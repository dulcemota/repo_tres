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sldIdLst>
    <p:sldId id="263" r:id="rId5"/>
    <p:sldId id="364" r:id="rId6"/>
    <p:sldId id="577" r:id="rId7"/>
    <p:sldId id="591" r:id="rId8"/>
    <p:sldId id="592" r:id="rId9"/>
    <p:sldId id="593" r:id="rId10"/>
    <p:sldId id="595" r:id="rId11"/>
    <p:sldId id="594" r:id="rId12"/>
    <p:sldId id="596" r:id="rId13"/>
    <p:sldId id="598" r:id="rId14"/>
    <p:sldId id="600" r:id="rId15"/>
    <p:sldId id="599" r:id="rId16"/>
    <p:sldId id="604" r:id="rId17"/>
    <p:sldId id="605" r:id="rId18"/>
    <p:sldId id="606" r:id="rId19"/>
    <p:sldId id="597" r:id="rId20"/>
    <p:sldId id="578" r:id="rId21"/>
    <p:sldId id="576" r:id="rId22"/>
    <p:sldId id="575" r:id="rId23"/>
    <p:sldId id="579" r:id="rId24"/>
    <p:sldId id="580" r:id="rId25"/>
    <p:sldId id="586" r:id="rId26"/>
    <p:sldId id="590" r:id="rId27"/>
    <p:sldId id="607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6177AB-4414-9612-F015-E35ED83FC93E}" name="Marílio Cardoso" initials="MC" userId="2fef8e3ac33b986a" providerId="Windows Live"/>
  <p188:author id="{4E8565B7-BE21-6251-F038-1D020AB69D38}" name="Dulce Mota" initials="DM" userId="a7cb2ea3e4b8740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441C"/>
    <a:srgbClr val="FED517"/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83414" autoAdjust="0"/>
  </p:normalViewPr>
  <p:slideViewPr>
    <p:cSldViewPr snapToObjects="1">
      <p:cViewPr>
        <p:scale>
          <a:sx n="75" d="100"/>
          <a:sy n="75" d="100"/>
        </p:scale>
        <p:origin x="348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693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90753-7296-4D12-94D4-46C86712C4B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559F67-DD9D-43FB-A7B0-42314644FEA2}">
      <dgm:prSet/>
      <dgm:spPr>
        <a:solidFill>
          <a:schemeClr val="bg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pt-PT" b="1" baseline="0" dirty="0" err="1"/>
            <a:t>Git</a:t>
          </a:r>
          <a:r>
            <a:rPr lang="pt-PT" b="1" baseline="0" dirty="0"/>
            <a:t> &amp; GitHub</a:t>
          </a:r>
          <a:endParaRPr lang="en-US" dirty="0"/>
        </a:p>
      </dgm:t>
    </dgm:pt>
    <dgm:pt modelId="{11F6BFCF-D6C0-419C-B99F-8E56F0304369}" type="parTrans" cxnId="{9193E8B7-786A-4BFB-A9E2-DF79AD428223}">
      <dgm:prSet/>
      <dgm:spPr/>
      <dgm:t>
        <a:bodyPr/>
        <a:lstStyle/>
        <a:p>
          <a:endParaRPr lang="en-US"/>
        </a:p>
      </dgm:t>
    </dgm:pt>
    <dgm:pt modelId="{3A9A838E-344D-4A54-A4E4-D68C616A87E5}" type="sibTrans" cxnId="{9193E8B7-786A-4BFB-A9E2-DF79AD428223}">
      <dgm:prSet/>
      <dgm:spPr/>
      <dgm:t>
        <a:bodyPr/>
        <a:lstStyle/>
        <a:p>
          <a:endParaRPr lang="en-US"/>
        </a:p>
      </dgm:t>
    </dgm:pt>
    <dgm:pt modelId="{2C576FEF-8AD0-48D8-8D01-7599D3D8B19F}" type="pres">
      <dgm:prSet presAssocID="{27C90753-7296-4D12-94D4-46C86712C4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C70B3F-83F3-49E8-AD3E-066CF7A8DEE1}" type="pres">
      <dgm:prSet presAssocID="{04559F67-DD9D-43FB-A7B0-42314644FEA2}" presName="hierRoot1" presStyleCnt="0"/>
      <dgm:spPr/>
    </dgm:pt>
    <dgm:pt modelId="{27FE039F-B66A-45BC-BB87-22DF2C705740}" type="pres">
      <dgm:prSet presAssocID="{04559F67-DD9D-43FB-A7B0-42314644FEA2}" presName="composite" presStyleCnt="0"/>
      <dgm:spPr/>
    </dgm:pt>
    <dgm:pt modelId="{A0A765C9-65CA-4E96-94C9-BFA756FF8F2B}" type="pres">
      <dgm:prSet presAssocID="{04559F67-DD9D-43FB-A7B0-42314644FEA2}" presName="background" presStyleLbl="node0" presStyleIdx="0" presStyleCnt="1"/>
      <dgm:spPr>
        <a:solidFill>
          <a:schemeClr val="bg2">
            <a:lumMod val="75000"/>
          </a:schemeClr>
        </a:solidFill>
      </dgm:spPr>
    </dgm:pt>
    <dgm:pt modelId="{D4126916-74B4-464C-B15D-8E0DED8EB6E5}" type="pres">
      <dgm:prSet presAssocID="{04559F67-DD9D-43FB-A7B0-42314644FEA2}" presName="text" presStyleLbl="fgAcc0" presStyleIdx="0" presStyleCnt="1">
        <dgm:presLayoutVars>
          <dgm:chPref val="3"/>
        </dgm:presLayoutVars>
      </dgm:prSet>
      <dgm:spPr/>
    </dgm:pt>
    <dgm:pt modelId="{120D4C71-9B1C-4BB7-BDE2-65BD35C88B88}" type="pres">
      <dgm:prSet presAssocID="{04559F67-DD9D-43FB-A7B0-42314644FEA2}" presName="hierChild2" presStyleCnt="0"/>
      <dgm:spPr/>
    </dgm:pt>
  </dgm:ptLst>
  <dgm:cxnLst>
    <dgm:cxn modelId="{4679F2B4-45FE-4240-A94B-48AD241923AE}" type="presOf" srcId="{04559F67-DD9D-43FB-A7B0-42314644FEA2}" destId="{D4126916-74B4-464C-B15D-8E0DED8EB6E5}" srcOrd="0" destOrd="0" presId="urn:microsoft.com/office/officeart/2005/8/layout/hierarchy1"/>
    <dgm:cxn modelId="{6BFAC2B6-821A-4BA3-957F-12D171C36580}" type="presOf" srcId="{27C90753-7296-4D12-94D4-46C86712C4B6}" destId="{2C576FEF-8AD0-48D8-8D01-7599D3D8B19F}" srcOrd="0" destOrd="0" presId="urn:microsoft.com/office/officeart/2005/8/layout/hierarchy1"/>
    <dgm:cxn modelId="{9193E8B7-786A-4BFB-A9E2-DF79AD428223}" srcId="{27C90753-7296-4D12-94D4-46C86712C4B6}" destId="{04559F67-DD9D-43FB-A7B0-42314644FEA2}" srcOrd="0" destOrd="0" parTransId="{11F6BFCF-D6C0-419C-B99F-8E56F0304369}" sibTransId="{3A9A838E-344D-4A54-A4E4-D68C616A87E5}"/>
    <dgm:cxn modelId="{176B8687-2873-4BEA-9A39-D474117BCB1B}" type="presParOf" srcId="{2C576FEF-8AD0-48D8-8D01-7599D3D8B19F}" destId="{91C70B3F-83F3-49E8-AD3E-066CF7A8DEE1}" srcOrd="0" destOrd="0" presId="urn:microsoft.com/office/officeart/2005/8/layout/hierarchy1"/>
    <dgm:cxn modelId="{F75E5A97-6AA3-4781-A291-2EBCCE5F374B}" type="presParOf" srcId="{91C70B3F-83F3-49E8-AD3E-066CF7A8DEE1}" destId="{27FE039F-B66A-45BC-BB87-22DF2C705740}" srcOrd="0" destOrd="0" presId="urn:microsoft.com/office/officeart/2005/8/layout/hierarchy1"/>
    <dgm:cxn modelId="{DCF3E8B1-6734-4235-8DE4-A6BA846157CD}" type="presParOf" srcId="{27FE039F-B66A-45BC-BB87-22DF2C705740}" destId="{A0A765C9-65CA-4E96-94C9-BFA756FF8F2B}" srcOrd="0" destOrd="0" presId="urn:microsoft.com/office/officeart/2005/8/layout/hierarchy1"/>
    <dgm:cxn modelId="{A3057758-04E6-4800-BA7B-006A66A59A75}" type="presParOf" srcId="{27FE039F-B66A-45BC-BB87-22DF2C705740}" destId="{D4126916-74B4-464C-B15D-8E0DED8EB6E5}" srcOrd="1" destOrd="0" presId="urn:microsoft.com/office/officeart/2005/8/layout/hierarchy1"/>
    <dgm:cxn modelId="{167B00CA-51E5-46AE-8750-F381FCE40B0C}" type="presParOf" srcId="{91C70B3F-83F3-49E8-AD3E-066CF7A8DEE1}" destId="{120D4C71-9B1C-4BB7-BDE2-65BD35C88B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A765C9-65CA-4E96-94C9-BFA756FF8F2B}">
      <dsp:nvSpPr>
        <dsp:cNvPr id="0" name=""/>
        <dsp:cNvSpPr/>
      </dsp:nvSpPr>
      <dsp:spPr>
        <a:xfrm>
          <a:off x="0" y="23961"/>
          <a:ext cx="3823624" cy="2428001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26916-74B4-464C-B15D-8E0DED8EB6E5}">
      <dsp:nvSpPr>
        <dsp:cNvPr id="0" name=""/>
        <dsp:cNvSpPr/>
      </dsp:nvSpPr>
      <dsp:spPr>
        <a:xfrm>
          <a:off x="424847" y="427566"/>
          <a:ext cx="3823624" cy="2428001"/>
        </a:xfrm>
        <a:prstGeom prst="roundRect">
          <a:avLst>
            <a:gd name="adj" fmla="val 10000"/>
          </a:avLst>
        </a:prstGeom>
        <a:solidFill>
          <a:schemeClr val="bg2">
            <a:lumMod val="60000"/>
            <a:lumOff val="4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400" b="1" kern="1200" baseline="0" dirty="0" err="1"/>
            <a:t>Git</a:t>
          </a:r>
          <a:r>
            <a:rPr lang="pt-PT" sz="6400" b="1" kern="1200" baseline="0" dirty="0"/>
            <a:t> &amp; GitHub</a:t>
          </a:r>
          <a:endParaRPr lang="en-US" sz="6400" kern="1200" dirty="0"/>
        </a:p>
      </dsp:txBody>
      <dsp:txXfrm>
        <a:off x="495961" y="498680"/>
        <a:ext cx="3681396" cy="2285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44EA3-AA2C-4D31-8163-3D3E5B221A9C}" type="datetimeFigureOut">
              <a:rPr lang="pt-PT" smtClean="0"/>
              <a:t>ter 21/04/2026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15F50-62B8-495B-9753-EC9DFE56959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630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808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439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62001-061A-6011-2E53-4769AC89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BF48A03-66A6-92F7-CAC3-0794B42A9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EDC9BEA-6ABE-5836-5FB0-65B69C8E8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457824C-A008-89AB-9C72-FEF1F30CE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3996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4379-2C72-D91F-D238-298DE5EF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B5C44BB-8B66-2FAD-0EF3-B048BC69B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E811E98-01C4-1C3D-8F6C-7D8A8AAB7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B8AC492-2415-4FED-860B-18443C5C1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2835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9D9F-5208-AA60-41A1-26C24331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5C18125-A45D-242C-3E46-9D7AEFED0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1C374CB-2417-B739-08D1-051849E5D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107B4DA-D30F-A988-917D-F743AC0B2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49152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C6B6-E4CC-D94D-86A2-9C0BABCE9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9587401-3D05-8E39-E7E7-C96F5A9F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C201436-E66A-580E-9C9D-EC912853A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7AA96D0-4299-72F9-2AE4-8FD0EBB49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1191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54D8-2A6E-B4DB-D802-224C24A6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11896F6-13B1-EF3F-DF48-E609DF247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4047F26-E41B-8166-7106-0876B4FBC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004637E-3CB9-B09C-A2C4-4765CEA8C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2372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2D8CC-8264-6276-A105-477977479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5877BD1-1C5D-5FDA-2AAC-551A3609B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7D382A8-C28A-11FB-E63C-3AA881A62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16F6619-5780-16D3-6B02-1C6E0DD36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7768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660E-3E45-66B1-1EFE-775CA25C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DF01ED1-D091-946F-BC2E-467AAF170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842B16A-D035-1B38-F7E3-46E5E636E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1F509FA-0AED-7FA4-B6BC-2EA46327C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3948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ECD0-7126-42ED-D137-293E5CF9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1A3E7E0-FDF4-BAB9-C626-B2BDB1966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BE4715C-F28B-8E1F-1F5F-7D3F0EEB5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5F0D5E3-3682-94C1-4946-805EE26EE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2315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4"/>
          <p:cNvSpPr/>
          <p:nvPr userDrawn="1"/>
        </p:nvSpPr>
        <p:spPr>
          <a:xfrm>
            <a:off x="0" y="4068000"/>
            <a:ext cx="9144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91680" y="1851671"/>
            <a:ext cx="5760640" cy="720080"/>
          </a:xfrm>
        </p:spPr>
        <p:txBody>
          <a:bodyPr>
            <a:normAutofit/>
          </a:bodyPr>
          <a:lstStyle>
            <a:lvl1pPr algn="ctr">
              <a:defRPr>
                <a:latin typeface="+mj-lt"/>
              </a:defRPr>
            </a:lvl1pPr>
          </a:lstStyle>
          <a:p>
            <a:r>
              <a:rPr lang="en-US" sz="1400" dirty="0">
                <a:solidFill>
                  <a:srgbClr val="000000"/>
                </a:solidFill>
              </a:rPr>
              <a:t>Clique para </a:t>
            </a:r>
            <a:r>
              <a:rPr lang="en-US" sz="1400" dirty="0" err="1">
                <a:solidFill>
                  <a:srgbClr val="000000"/>
                </a:solidFill>
              </a:rPr>
              <a:t>editar</a:t>
            </a:r>
            <a:r>
              <a:rPr lang="en-US" sz="1400" dirty="0">
                <a:solidFill>
                  <a:srgbClr val="000000"/>
                </a:solidFill>
              </a:rPr>
              <a:t> o </a:t>
            </a:r>
            <a:r>
              <a:rPr lang="en-US" sz="1400" dirty="0" err="1">
                <a:solidFill>
                  <a:srgbClr val="000000"/>
                </a:solidFill>
              </a:rPr>
              <a:t>subtítulo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22"/>
          <p:cNvCxnSpPr/>
          <p:nvPr userDrawn="1"/>
        </p:nvCxnSpPr>
        <p:spPr>
          <a:xfrm>
            <a:off x="3851920" y="1707654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23"/>
          <p:cNvCxnSpPr/>
          <p:nvPr userDrawn="1"/>
        </p:nvCxnSpPr>
        <p:spPr>
          <a:xfrm>
            <a:off x="1691680" y="3075806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24"/>
          <p:cNvCxnSpPr/>
          <p:nvPr userDrawn="1"/>
        </p:nvCxnSpPr>
        <p:spPr>
          <a:xfrm>
            <a:off x="6012160" y="3075806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ítulo 26"/>
          <p:cNvSpPr>
            <a:spLocks noGrp="1"/>
          </p:cNvSpPr>
          <p:nvPr>
            <p:ph type="title" hasCustomPrompt="1"/>
          </p:nvPr>
        </p:nvSpPr>
        <p:spPr>
          <a:xfrm>
            <a:off x="971600" y="699542"/>
            <a:ext cx="7200800" cy="1152128"/>
          </a:xfrm>
        </p:spPr>
        <p:txBody>
          <a:bodyPr/>
          <a:lstStyle>
            <a:lvl1pPr algn="ctr">
              <a:defRPr sz="28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32" name="Marcador de Posição do Texto 31"/>
          <p:cNvSpPr>
            <a:spLocks noGrp="1"/>
          </p:cNvSpPr>
          <p:nvPr>
            <p:ph type="body" sz="quarter" idx="10" hasCustomPrompt="1"/>
          </p:nvPr>
        </p:nvSpPr>
        <p:spPr>
          <a:xfrm>
            <a:off x="1691680" y="3075806"/>
            <a:ext cx="1440160" cy="936104"/>
          </a:xfrm>
        </p:spPr>
        <p:txBody>
          <a:bodyPr tIns="72000"/>
          <a:lstStyle>
            <a:lvl1pPr>
              <a:defRPr sz="900" b="0" baseline="0"/>
            </a:lvl1pPr>
          </a:lstStyle>
          <a:p>
            <a:pPr lvl="0"/>
            <a:r>
              <a:rPr lang="pt-PT" dirty="0"/>
              <a:t>CLIQUE PARA EDITAR EVENTO / DATA</a:t>
            </a:r>
          </a:p>
        </p:txBody>
      </p:sp>
      <p:sp>
        <p:nvSpPr>
          <p:cNvPr id="37" name="Marcador de Posição do Texto 31"/>
          <p:cNvSpPr>
            <a:spLocks noGrp="1"/>
          </p:cNvSpPr>
          <p:nvPr>
            <p:ph type="body" sz="quarter" idx="11" hasCustomPrompt="1"/>
          </p:nvPr>
        </p:nvSpPr>
        <p:spPr>
          <a:xfrm>
            <a:off x="5292080" y="3075807"/>
            <a:ext cx="2160240" cy="216024"/>
          </a:xfrm>
        </p:spPr>
        <p:txBody>
          <a:bodyPr tIns="72000" bIns="0">
            <a:noAutofit/>
          </a:bodyPr>
          <a:lstStyle>
            <a:lvl1pPr algn="r">
              <a:defRPr sz="1000" b="1" baseline="0"/>
            </a:lvl1pPr>
          </a:lstStyle>
          <a:p>
            <a:pPr lvl="0"/>
            <a:r>
              <a:rPr lang="pt-PT" dirty="0"/>
              <a:t>Clique para editar autor</a:t>
            </a:r>
          </a:p>
        </p:txBody>
      </p:sp>
      <p:sp>
        <p:nvSpPr>
          <p:cNvPr id="38" name="Marcador de Posição do Texto 31"/>
          <p:cNvSpPr>
            <a:spLocks noGrp="1"/>
          </p:cNvSpPr>
          <p:nvPr>
            <p:ph type="body" sz="quarter" idx="12" hasCustomPrompt="1"/>
          </p:nvPr>
        </p:nvSpPr>
        <p:spPr>
          <a:xfrm>
            <a:off x="5292080" y="3291831"/>
            <a:ext cx="2160240" cy="720079"/>
          </a:xfrm>
        </p:spPr>
        <p:txBody>
          <a:bodyPr tIns="18000"/>
          <a:lstStyle>
            <a:lvl1pPr algn="r">
              <a:defRPr sz="900" b="0" baseline="0"/>
            </a:lvl1pPr>
          </a:lstStyle>
          <a:p>
            <a:pPr lvl="0"/>
            <a:r>
              <a:rPr lang="pt-PT" dirty="0"/>
              <a:t>Clique para editar cargo / afiliação</a:t>
            </a:r>
          </a:p>
        </p:txBody>
      </p:sp>
    </p:spTree>
    <p:extLst>
      <p:ext uri="{BB962C8B-B14F-4D97-AF65-F5344CB8AC3E}">
        <p14:creationId xmlns:p14="http://schemas.microsoft.com/office/powerpoint/2010/main" val="247489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8640959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588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8640959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844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4644008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4248471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816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4644008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4248471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5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022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251524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6"/>
          </p:nvPr>
        </p:nvSpPr>
        <p:spPr>
          <a:xfrm>
            <a:off x="4644007" y="1127469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7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8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251524" y="4023616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8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20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251524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6"/>
          </p:nvPr>
        </p:nvSpPr>
        <p:spPr>
          <a:xfrm>
            <a:off x="4644007" y="1127469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7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251524" y="4023616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8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224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1691680" y="1131590"/>
            <a:ext cx="5760640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1691680" y="4017305"/>
            <a:ext cx="5760635" cy="426653"/>
          </a:xfrm>
        </p:spPr>
        <p:txBody>
          <a:bodyPr/>
          <a:lstStyle>
            <a:lvl1pPr algn="ctr"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74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1691680" y="1131590"/>
            <a:ext cx="5760640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1691680" y="4017305"/>
            <a:ext cx="5760635" cy="426653"/>
          </a:xfrm>
        </p:spPr>
        <p:txBody>
          <a:bodyPr/>
          <a:lstStyle>
            <a:lvl1pPr algn="ctr"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310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248471" cy="1656185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7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248471" cy="1368152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5"/>
          </p:nvPr>
        </p:nvSpPr>
        <p:spPr>
          <a:xfrm>
            <a:off x="4644007" y="915566"/>
            <a:ext cx="4248469" cy="3095553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9" name="Rectangle 14"/>
          <p:cNvSpPr/>
          <p:nvPr userDrawn="1"/>
        </p:nvSpPr>
        <p:spPr>
          <a:xfrm>
            <a:off x="0" y="4443957"/>
            <a:ext cx="9144000" cy="704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3" name="Marcador de Posição do Número do Diapositivo 2"/>
          <p:cNvSpPr>
            <a:spLocks noGrp="1"/>
          </p:cNvSpPr>
          <p:nvPr>
            <p:ph type="sldNum" sz="quarter" idx="16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032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248471" cy="1656185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7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248471" cy="1368152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5"/>
          </p:nvPr>
        </p:nvSpPr>
        <p:spPr>
          <a:xfrm>
            <a:off x="4644007" y="915566"/>
            <a:ext cx="4248469" cy="3095553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8" name="Rectangle 14"/>
          <p:cNvSpPr/>
          <p:nvPr userDrawn="1"/>
        </p:nvSpPr>
        <p:spPr>
          <a:xfrm>
            <a:off x="0" y="4443957"/>
            <a:ext cx="9144000" cy="704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6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1320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7206308" y="0"/>
            <a:ext cx="1937692" cy="444395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320478" cy="1656183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5076054" y="411510"/>
            <a:ext cx="3531898" cy="3600400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</a:lstStyle>
          <a:p>
            <a:pPr lvl="1"/>
            <a:endParaRPr lang="en-US" dirty="0"/>
          </a:p>
        </p:txBody>
      </p:sp>
      <p:sp>
        <p:nvSpPr>
          <p:cNvPr id="21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320478" cy="1368152"/>
          </a:xfrm>
        </p:spPr>
        <p:txBody>
          <a:bodyPr/>
          <a:lstStyle>
            <a:lvl1pPr>
              <a:defRPr/>
            </a:lvl1pPr>
            <a:lvl2pPr marL="0">
              <a:defRPr baseline="0"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0" name="Rectangle 14"/>
          <p:cNvSpPr/>
          <p:nvPr userDrawn="1"/>
        </p:nvSpPr>
        <p:spPr>
          <a:xfrm>
            <a:off x="0" y="4443957"/>
            <a:ext cx="9144000" cy="704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5076055" y="4017305"/>
            <a:ext cx="3531897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3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209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320478" cy="1656183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5076054" y="411510"/>
            <a:ext cx="3531898" cy="3600400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</a:lstStyle>
          <a:p>
            <a:pPr lvl="1"/>
            <a:endParaRPr lang="en-US" dirty="0"/>
          </a:p>
        </p:txBody>
      </p:sp>
      <p:sp>
        <p:nvSpPr>
          <p:cNvPr id="20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5076055" y="4017305"/>
            <a:ext cx="3531897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21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320478" cy="1368152"/>
          </a:xfrm>
        </p:spPr>
        <p:txBody>
          <a:bodyPr/>
          <a:lstStyle>
            <a:lvl1pPr>
              <a:defRPr/>
            </a:lvl1pPr>
            <a:lvl2pPr marL="0">
              <a:defRPr baseline="0"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pic>
        <p:nvPicPr>
          <p:cNvPr id="9" name="Picture 16" descr="ficha-02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" t="4838" r="3154" b="4988"/>
          <a:stretch/>
        </p:blipFill>
        <p:spPr>
          <a:xfrm>
            <a:off x="144000" y="4660014"/>
            <a:ext cx="446002" cy="288000"/>
          </a:xfrm>
          <a:prstGeom prst="rect">
            <a:avLst/>
          </a:prstGeom>
        </p:spPr>
      </p:pic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8183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323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4"/>
          <p:cNvSpPr/>
          <p:nvPr userDrawn="1"/>
        </p:nvSpPr>
        <p:spPr>
          <a:xfrm>
            <a:off x="0" y="2931790"/>
            <a:ext cx="9144000" cy="2216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91680" y="1851671"/>
            <a:ext cx="5760640" cy="720080"/>
          </a:xfrm>
        </p:spPr>
        <p:txBody>
          <a:bodyPr>
            <a:norm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sz="1400" dirty="0">
                <a:solidFill>
                  <a:srgbClr val="000000"/>
                </a:solidFill>
              </a:rPr>
              <a:t>Clique para </a:t>
            </a:r>
            <a:r>
              <a:rPr lang="en-US" sz="1400" dirty="0" err="1">
                <a:solidFill>
                  <a:srgbClr val="000000"/>
                </a:solidFill>
              </a:rPr>
              <a:t>editar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autor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contacto,etc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22"/>
          <p:cNvCxnSpPr/>
          <p:nvPr userDrawn="1"/>
        </p:nvCxnSpPr>
        <p:spPr>
          <a:xfrm>
            <a:off x="3851920" y="1707654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ítulo 26"/>
          <p:cNvSpPr>
            <a:spLocks noGrp="1"/>
          </p:cNvSpPr>
          <p:nvPr>
            <p:ph type="title" hasCustomPrompt="1"/>
          </p:nvPr>
        </p:nvSpPr>
        <p:spPr>
          <a:xfrm>
            <a:off x="971600" y="699542"/>
            <a:ext cx="7200800" cy="1152128"/>
          </a:xfrm>
        </p:spPr>
        <p:txBody>
          <a:bodyPr/>
          <a:lstStyle>
            <a:lvl1pPr algn="ctr"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pt-PT" dirty="0"/>
              <a:t>Obrigada(o)!</a:t>
            </a:r>
          </a:p>
        </p:txBody>
      </p:sp>
    </p:spTree>
    <p:extLst>
      <p:ext uri="{BB962C8B-B14F-4D97-AF65-F5344CB8AC3E}">
        <p14:creationId xmlns:p14="http://schemas.microsoft.com/office/powerpoint/2010/main" val="414998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915566"/>
            <a:ext cx="4320480" cy="1656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 dirty="0"/>
              <a:t>Título</a:t>
            </a:r>
            <a:br>
              <a:rPr lang="pt-PT" dirty="0"/>
            </a:br>
            <a:r>
              <a:rPr lang="pt-PT" dirty="0"/>
              <a:t>Aqui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643758"/>
            <a:ext cx="4320481" cy="137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Corpo do texto nível 1</a:t>
            </a:r>
          </a:p>
          <a:p>
            <a:pPr lvl="1"/>
            <a:r>
              <a:rPr lang="pt-PT" dirty="0"/>
              <a:t>Corpo de texto nível 2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3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4</a:t>
            </a:r>
          </a:p>
          <a:p>
            <a:pPr marL="22860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5</a:t>
            </a:r>
          </a:p>
          <a:p>
            <a:pPr marL="2743200" marR="0" lvl="5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6</a:t>
            </a:r>
          </a:p>
          <a:p>
            <a:pPr marL="22860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PT" dirty="0"/>
          </a:p>
          <a:p>
            <a:pPr marL="22860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PT" dirty="0"/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PT" dirty="0"/>
          </a:p>
          <a:p>
            <a:pPr lvl="2"/>
            <a:endParaRPr lang="pt-PT" dirty="0"/>
          </a:p>
        </p:txBody>
      </p:sp>
      <p:sp>
        <p:nvSpPr>
          <p:cNvPr id="12" name="Marcador de Posição da Data 11"/>
          <p:cNvSpPr>
            <a:spLocks noGrp="1"/>
          </p:cNvSpPr>
          <p:nvPr>
            <p:ph type="dt" sz="half" idx="2"/>
          </p:nvPr>
        </p:nvSpPr>
        <p:spPr>
          <a:xfrm>
            <a:off x="2411760" y="4018607"/>
            <a:ext cx="1440160" cy="713383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14" name="Marcador de Posição do Número do Diapositivo 13"/>
          <p:cNvSpPr>
            <a:spLocks noGrp="1"/>
          </p:cNvSpPr>
          <p:nvPr>
            <p:ph type="sldNum" sz="quarter" idx="4"/>
          </p:nvPr>
        </p:nvSpPr>
        <p:spPr>
          <a:xfrm>
            <a:off x="3851920" y="4018607"/>
            <a:ext cx="720080" cy="713383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018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2" r:id="rId2"/>
    <p:sldLayoutId id="2147483673" r:id="rId3"/>
    <p:sldLayoutId id="2147483666" r:id="rId4"/>
    <p:sldLayoutId id="2147483670" r:id="rId5"/>
    <p:sldLayoutId id="2147483665" r:id="rId6"/>
    <p:sldLayoutId id="2147483669" r:id="rId7"/>
    <p:sldLayoutId id="2147483674" r:id="rId8"/>
    <p:sldLayoutId id="2147483675" r:id="rId9"/>
    <p:sldLayoutId id="2147483662" r:id="rId10"/>
    <p:sldLayoutId id="2147483668" r:id="rId11"/>
    <p:sldLayoutId id="2147483660" r:id="rId12"/>
    <p:sldLayoutId id="2147483667" r:id="rId13"/>
    <p:sldLayoutId id="2147483661" r:id="rId14"/>
    <p:sldLayoutId id="2147483671" r:id="rId1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None/>
        <a:tabLst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marR="0" indent="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None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cheat-she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864096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pt-PT" b="1" kern="1200" dirty="0">
                <a:latin typeface="+mj-lt"/>
                <a:ea typeface="+mj-ea"/>
                <a:cs typeface="+mj-cs"/>
              </a:rPr>
              <a:t>Modelação e Programação </a:t>
            </a:r>
            <a:br>
              <a:rPr lang="pt-PT" b="1" kern="1200" dirty="0">
                <a:latin typeface="+mj-lt"/>
                <a:ea typeface="+mj-ea"/>
                <a:cs typeface="+mj-cs"/>
              </a:rPr>
            </a:br>
            <a:r>
              <a:rPr lang="pt-PT" b="1" kern="1200" dirty="0">
                <a:latin typeface="+mj-lt"/>
                <a:ea typeface="+mj-ea"/>
                <a:cs typeface="+mj-cs"/>
              </a:rPr>
              <a:t>1º Ano, 2º Semestre </a:t>
            </a:r>
          </a:p>
        </p:txBody>
      </p:sp>
      <p:sp>
        <p:nvSpPr>
          <p:cNvPr id="20" name="Marcador de Posição do Texto 19"/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2880320"/>
          </a:xfrm>
        </p:spPr>
        <p:txBody>
          <a:bodyPr vert="horz" lIns="91440" tIns="45720" rIns="91440" bIns="45720" rtlCol="0">
            <a:normAutofit/>
          </a:bodyPr>
          <a:lstStyle/>
          <a:p>
            <a:pPr lvl="1">
              <a:spcAft>
                <a:spcPts val="600"/>
              </a:spcAft>
            </a:pPr>
            <a:r>
              <a:rPr lang="pt-PT" b="1" baseline="0" dirty="0"/>
              <a:t>Dulce Mota (mdm@</a:t>
            </a:r>
            <a:r>
              <a:rPr lang="pt-PT" b="1" baseline="0" dirty="0">
                <a:effectLst/>
              </a:rPr>
              <a:t>isep.ipp.pt</a:t>
            </a:r>
            <a:r>
              <a:rPr lang="pt-PT" b="1" baseline="0" dirty="0"/>
              <a:t>)</a:t>
            </a:r>
            <a:endParaRPr lang="pt-PT" baseline="0" dirty="0"/>
          </a:p>
          <a:p>
            <a:pPr lvl="1">
              <a:spcAft>
                <a:spcPts val="600"/>
              </a:spcAft>
            </a:pPr>
            <a:r>
              <a:rPr lang="pt-PT" b="1" baseline="0" dirty="0"/>
              <a:t>Catarina Félix (cfo@isep.ipp.pt)</a:t>
            </a:r>
          </a:p>
          <a:p>
            <a:pPr lvl="1">
              <a:spcAft>
                <a:spcPts val="600"/>
              </a:spcAft>
            </a:pPr>
            <a:endParaRPr lang="pt-PT" baseline="0" dirty="0"/>
          </a:p>
        </p:txBody>
      </p:sp>
      <p:sp>
        <p:nvSpPr>
          <p:cNvPr id="4" name="Título 16">
            <a:extLst>
              <a:ext uri="{FF2B5EF4-FFF2-40B4-BE49-F238E27FC236}">
                <a16:creationId xmlns:a16="http://schemas.microsoft.com/office/drawing/2014/main" id="{6E1BDE4E-6351-5BE1-56F9-1BD64CA03DE3}"/>
              </a:ext>
            </a:extLst>
          </p:cNvPr>
          <p:cNvSpPr txBox="1">
            <a:spLocks/>
          </p:cNvSpPr>
          <p:nvPr/>
        </p:nvSpPr>
        <p:spPr>
          <a:xfrm>
            <a:off x="4644007" y="4017305"/>
            <a:ext cx="4248469" cy="42665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</a:pPr>
            <a:r>
              <a:rPr lang="pt-PT" sz="1800" kern="1200" baseline="0" dirty="0">
                <a:latin typeface="+mn-lt"/>
                <a:ea typeface="+mn-ea"/>
                <a:cs typeface="+mn-cs"/>
              </a:rPr>
              <a:t>Licenciatura em Engenharia de Sistemas</a:t>
            </a:r>
          </a:p>
        </p:txBody>
      </p:sp>
      <p:graphicFrame>
        <p:nvGraphicFramePr>
          <p:cNvPr id="22" name="Marcador de Posição do Texto 18">
            <a:extLst>
              <a:ext uri="{FF2B5EF4-FFF2-40B4-BE49-F238E27FC236}">
                <a16:creationId xmlns:a16="http://schemas.microsoft.com/office/drawing/2014/main" id="{B3048848-DF61-49A9-D78C-650CF8FD5F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0426253"/>
              </p:ext>
            </p:extLst>
          </p:nvPr>
        </p:nvGraphicFramePr>
        <p:xfrm>
          <a:off x="4644008" y="1131590"/>
          <a:ext cx="4248472" cy="2879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733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5B06F4-E319-E8FA-446F-A0729AFA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Introdução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EEB18D81-138C-A394-113B-58E53B10F9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8496943" cy="3168352"/>
          </a:xfrm>
        </p:spPr>
        <p:txBody>
          <a:bodyPr>
            <a:normAutofit fontScale="92500" lnSpcReduction="10000"/>
          </a:bodyPr>
          <a:lstStyle/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sistema de controlo de versões que mantém registo das alterações efetuadas</a:t>
            </a: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Duas alternativas:</a:t>
            </a:r>
          </a:p>
          <a:p>
            <a:pPr marL="1005750" lvl="3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Pela interface do IDE</a:t>
            </a:r>
          </a:p>
          <a:p>
            <a:pPr marL="1005750" lvl="3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Por linha de comandos: 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  <a:hlinkClick r:id="rId3"/>
              </a:rPr>
              <a:t>https://git-scm.com/cheat-sheet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GitHub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plataforma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cloud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que aloja repositórios de código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Objetivo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permitir que várias pessoas trabalhem no mesmo projeto ao mesmo tempo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098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C6DB-624C-9405-238A-EC7A0099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A450B76-680D-8642-965D-DA2521E1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Conceitos 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3BA24209-5A76-5259-CDCA-877521184C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4680519" cy="3940014"/>
          </a:xfrm>
        </p:spPr>
        <p:txBody>
          <a:bodyPr>
            <a:normAutofit fontScale="85000" lnSpcReduction="10000"/>
          </a:bodyPr>
          <a:lstStyle/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dirty="0" err="1">
                <a:solidFill>
                  <a:srgbClr val="000000"/>
                </a:solidFill>
                <a:cs typeface="Arial" panose="020B0604020202020204" pitchFamily="34" charset="0"/>
              </a:rPr>
              <a:t>Branch</a:t>
            </a:r>
            <a:r>
              <a:rPr lang="pt-PT" sz="1900" dirty="0">
                <a:solidFill>
                  <a:srgbClr val="000000"/>
                </a:solidFill>
                <a:cs typeface="Arial" panose="020B0604020202020204" pitchFamily="34" charset="0"/>
              </a:rPr>
              <a:t>: Ramo de desenvolvimento independente</a:t>
            </a:r>
            <a:endParaRPr lang="pt-PT" sz="1900" b="1" noProof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b="1" noProof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noProof="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Commit</a:t>
            </a:r>
            <a:r>
              <a:rPr lang="pt-PT" sz="1900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guardar alterações com uma descrição adequada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noProof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noProof="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Push</a:t>
            </a:r>
            <a:r>
              <a:rPr lang="pt-PT" sz="1900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Fazer upload dos </a:t>
            </a:r>
            <a:r>
              <a:rPr lang="pt-PT" sz="1900" noProof="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commits</a:t>
            </a:r>
            <a:r>
              <a:rPr lang="pt-PT" sz="1900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para o repositório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noProof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Pull</a:t>
            </a:r>
            <a:r>
              <a:rPr lang="pt-PT" sz="1900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Fazer download das alterações a partir do repositório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dirty="0" err="1">
                <a:solidFill>
                  <a:srgbClr val="000000"/>
                </a:solidFill>
                <a:cs typeface="Arial" panose="020B0604020202020204" pitchFamily="34" charset="0"/>
              </a:rPr>
              <a:t>Merge</a:t>
            </a:r>
            <a:r>
              <a:rPr lang="pt-PT" sz="1900" dirty="0">
                <a:solidFill>
                  <a:srgbClr val="000000"/>
                </a:solidFill>
                <a:cs typeface="Arial" panose="020B0604020202020204" pitchFamily="34" charset="0"/>
              </a:rPr>
              <a:t>: Juntar as alterações de dois </a:t>
            </a:r>
            <a:r>
              <a:rPr lang="pt-PT" sz="1900" dirty="0" err="1">
                <a:solidFill>
                  <a:srgbClr val="000000"/>
                </a:solidFill>
                <a:cs typeface="Arial" panose="020B0604020202020204" pitchFamily="34" charset="0"/>
              </a:rPr>
              <a:t>branches</a:t>
            </a:r>
            <a:endParaRPr lang="pt-PT" sz="19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noProof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55FD544-21E0-B330-C319-DFA0296F04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3</a:t>
            </a:fld>
            <a:endParaRPr lang="pt-PT"/>
          </a:p>
        </p:txBody>
      </p:sp>
      <p:pic>
        <p:nvPicPr>
          <p:cNvPr id="6" name="Picture 5" descr="Diagram of a diagram of a remote repository&#10;&#10;AI-generated content may be incorrect.">
            <a:extLst>
              <a:ext uri="{FF2B5EF4-FFF2-40B4-BE49-F238E27FC236}">
                <a16:creationId xmlns:a16="http://schemas.microsoft.com/office/drawing/2014/main" id="{D307ACB9-98C8-6973-FA93-8981EED53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72" y="697424"/>
            <a:ext cx="3866103" cy="374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1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624-96D3-B712-3602-A1377AFA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54AA4-758F-8813-B171-CC2829035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6107" y="1347614"/>
            <a:ext cx="7916373" cy="3312400"/>
          </a:xfrm>
        </p:spPr>
        <p:txBody>
          <a:bodyPr/>
          <a:lstStyle/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pt-PT" b="0" dirty="0"/>
              <a:t>E depois:</a:t>
            </a:r>
          </a:p>
          <a:p>
            <a:endParaRPr lang="pt-PT" b="0" dirty="0"/>
          </a:p>
          <a:p>
            <a:endParaRPr lang="pt-PT" b="0" dirty="0"/>
          </a:p>
          <a:p>
            <a:endParaRPr lang="pt-PT" b="0" dirty="0"/>
          </a:p>
          <a:p>
            <a:r>
              <a:rPr lang="pt-PT" b="0" dirty="0"/>
              <a:t>Ou então:</a:t>
            </a:r>
          </a:p>
          <a:p>
            <a:endParaRPr lang="pt-PT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90A47-9346-DB62-108D-6F48DF29B5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4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EF3237-F557-811A-DF1F-F428A533CA97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Clone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BBE0D-24CC-40A6-101E-0FAC77E5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07" y="1355210"/>
            <a:ext cx="4003969" cy="9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436EA-4DF8-171F-DDA3-645007D79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755" y="2454191"/>
            <a:ext cx="3240000" cy="10025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A6CE94-A00E-FB14-4F43-72CAF9301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755" y="3766075"/>
            <a:ext cx="3240000" cy="103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0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0D95-82BD-36C2-69F5-5EA45C02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B5A381-E309-8D20-A304-06B97BCCA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78" y="1347612"/>
            <a:ext cx="3283971" cy="3146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4B03CE-E846-4077-633F-57F9FD4C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DE9A4-3FDD-F282-6F78-8A4A4E937A1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4C97E9-AE8C-F207-AA39-28B2784A52C7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 err="1"/>
              <a:t>Commit</a:t>
            </a:r>
            <a:r>
              <a:rPr lang="pt-PT" b="0" dirty="0"/>
              <a:t> &amp; </a:t>
            </a:r>
            <a:r>
              <a:rPr lang="pt-PT" b="0" dirty="0" err="1"/>
              <a:t>Push</a:t>
            </a:r>
            <a:endParaRPr lang="pt-PT" b="0" dirty="0"/>
          </a:p>
        </p:txBody>
      </p:sp>
    </p:spTree>
    <p:extLst>
      <p:ext uri="{BB962C8B-B14F-4D97-AF65-F5344CB8AC3E}">
        <p14:creationId xmlns:p14="http://schemas.microsoft.com/office/powerpoint/2010/main" val="284961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E7E5-6968-F7AB-3353-90BC2E433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13CD-2600-3C04-CC11-0C98D36B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05383-0371-74DE-3B37-3B25953EE5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6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924E8D-05C0-1897-2F72-5CDBE0A91459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Pull (da última versão do repositório)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7EC36F-15A3-52F6-5FAE-90C90699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301054"/>
            <a:ext cx="3534268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4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600C-BD6A-9509-F485-785B26D7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B0CD-98CD-68DC-BCD3-69E8D8785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7F546-B23A-1958-537A-BAD0261C857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7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65DE1D-88ED-205C-7C5A-782F986B5C14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Criar novo </a:t>
            </a:r>
            <a:r>
              <a:rPr lang="pt-PT" b="0" dirty="0" err="1"/>
              <a:t>branch</a:t>
            </a:r>
            <a:endParaRPr lang="pt-PT" b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0EE4F2-7E4C-2084-6E75-2517DECFD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374239"/>
            <a:ext cx="3534268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8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5DBF1-3116-20DA-8DD6-278040D3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3F36-5D4C-59C5-B544-FDAAF4EA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87438-2B21-C02A-AB1A-602024AD6F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8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8C94CF-DEF8-71C2-D04D-51108D92E4A0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Voltar para o </a:t>
            </a:r>
            <a:r>
              <a:rPr lang="pt-PT" b="0" dirty="0" err="1"/>
              <a:t>branch</a:t>
            </a:r>
            <a:r>
              <a:rPr lang="pt-PT" b="0" dirty="0"/>
              <a:t> principal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630103-67B1-7670-A90E-CAAE648D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347614"/>
            <a:ext cx="3384375" cy="331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48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2BA7-0518-9956-43D4-A478EB27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4C79-F665-342A-6D02-2B4797FB1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116BD-FBCA-8A98-F368-2D7FA43C22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9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979187C-0902-D28E-10A6-319275242D71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Fazer </a:t>
            </a:r>
            <a:r>
              <a:rPr lang="pt-PT" b="0" dirty="0" err="1"/>
              <a:t>merge</a:t>
            </a:r>
            <a:r>
              <a:rPr lang="pt-PT" b="0" dirty="0"/>
              <a:t> de um </a:t>
            </a:r>
            <a:r>
              <a:rPr lang="pt-PT" b="0" dirty="0" err="1"/>
              <a:t>branch</a:t>
            </a:r>
            <a:r>
              <a:rPr lang="pt-PT" b="0" dirty="0"/>
              <a:t> para o </a:t>
            </a:r>
            <a:r>
              <a:rPr lang="pt-PT" b="0" dirty="0" err="1"/>
              <a:t>branch</a:t>
            </a:r>
            <a:r>
              <a:rPr lang="pt-PT" b="0" dirty="0"/>
              <a:t> principal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964AF4-3392-CB71-C7DA-39DBD6C0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347614"/>
            <a:ext cx="3600400" cy="319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31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D933-1214-6ADD-7616-10C12856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7DA2E4B-B46C-8C72-5993-18D27BED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16" y="1359459"/>
            <a:ext cx="5160752" cy="33416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B5D17B-F349-2593-FA1F-2F435D830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C66EC-1E55-312F-28EC-820A2097A9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10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4B88B9-98F1-4E7D-7B03-B930E135403E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Após o </a:t>
            </a:r>
            <a:r>
              <a:rPr lang="pt-PT" b="0" dirty="0" err="1"/>
              <a:t>merge</a:t>
            </a:r>
            <a:r>
              <a:rPr lang="pt-PT" b="0" dirty="0"/>
              <a:t>: Notificação de que há conflitos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709B4CC3-4C0E-173C-620E-C1F0E8935CAD}"/>
              </a:ext>
            </a:extLst>
          </p:cNvPr>
          <p:cNvSpPr txBox="1">
            <a:spLocks/>
          </p:cNvSpPr>
          <p:nvPr/>
        </p:nvSpPr>
        <p:spPr>
          <a:xfrm>
            <a:off x="6084168" y="2427735"/>
            <a:ext cx="1800200" cy="43204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0" dirty="0"/>
              <a:t>Clicar em “</a:t>
            </a:r>
            <a:r>
              <a:rPr lang="pt-PT" b="0" dirty="0" err="1"/>
              <a:t>Merge</a:t>
            </a:r>
            <a:r>
              <a:rPr lang="pt-PT" b="0" dirty="0"/>
              <a:t>”</a:t>
            </a:r>
            <a:endParaRPr lang="pt-PT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278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31F06-CC9A-FF5B-B56B-AA6719AE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99F9E3A-3414-317A-33AD-EC0D3AB84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44" y="1323380"/>
            <a:ext cx="5400000" cy="2833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55DD6F-2504-4364-4CBF-8A871857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8EDD6-7944-E11D-59E0-6A90E8577C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11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73D1D5-8CD4-2C64-964C-390A3147546E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Conflitos detetados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8AFCF32-9CCD-64E8-0ABC-FDED201677CB}"/>
              </a:ext>
            </a:extLst>
          </p:cNvPr>
          <p:cNvSpPr txBox="1">
            <a:spLocks/>
          </p:cNvSpPr>
          <p:nvPr/>
        </p:nvSpPr>
        <p:spPr>
          <a:xfrm>
            <a:off x="7313722" y="1672136"/>
            <a:ext cx="1800200" cy="57606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800" dirty="0"/>
              <a:t>Alterações em conflito vindas do </a:t>
            </a:r>
            <a:r>
              <a:rPr lang="pt-PT" sz="800" dirty="0" err="1"/>
              <a:t>branch</a:t>
            </a:r>
            <a:r>
              <a:rPr lang="pt-PT" sz="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800" b="0" dirty="0"/>
              <a:t>Método divide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800" b="0" dirty="0"/>
              <a:t>Print do resultado do método divide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DA31FC5-4289-B03A-2081-4ED77720021E}"/>
              </a:ext>
            </a:extLst>
          </p:cNvPr>
          <p:cNvSpPr txBox="1">
            <a:spLocks/>
          </p:cNvSpPr>
          <p:nvPr/>
        </p:nvSpPr>
        <p:spPr>
          <a:xfrm>
            <a:off x="0" y="1672136"/>
            <a:ext cx="1881944" cy="57606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800" dirty="0"/>
              <a:t>Alterações em conflito vindas do </a:t>
            </a:r>
            <a:r>
              <a:rPr lang="pt-PT" sz="800" dirty="0" err="1"/>
              <a:t>main</a:t>
            </a:r>
            <a:r>
              <a:rPr lang="pt-PT" sz="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800" b="0" dirty="0"/>
              <a:t>Método </a:t>
            </a:r>
            <a:r>
              <a:rPr lang="pt-PT" sz="800" b="0" dirty="0" err="1"/>
              <a:t>multiply</a:t>
            </a:r>
            <a:endParaRPr lang="pt-PT" sz="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800" b="0" dirty="0"/>
              <a:t>Print do resultado do método </a:t>
            </a:r>
            <a:r>
              <a:rPr lang="pt-PT" sz="800" b="0" dirty="0" err="1"/>
              <a:t>multiply</a:t>
            </a:r>
            <a:endParaRPr lang="pt-PT" sz="800" b="0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7B861214-03DB-5AD8-1A21-4B04B71E8348}"/>
              </a:ext>
            </a:extLst>
          </p:cNvPr>
          <p:cNvSpPr txBox="1">
            <a:spLocks/>
          </p:cNvSpPr>
          <p:nvPr/>
        </p:nvSpPr>
        <p:spPr>
          <a:xfrm>
            <a:off x="3887923" y="4184621"/>
            <a:ext cx="1800200" cy="57606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b="0" dirty="0"/>
              <a:t>×: elimina a alteração</a:t>
            </a:r>
          </a:p>
          <a:p>
            <a:r>
              <a:rPr lang="pt-PT" sz="1200" b="0" dirty="0"/>
              <a:t>&gt;&gt;: faz </a:t>
            </a:r>
            <a:r>
              <a:rPr lang="pt-PT" sz="1200" b="0" dirty="0" err="1"/>
              <a:t>merge</a:t>
            </a:r>
            <a:r>
              <a:rPr lang="pt-PT" sz="1200" b="0" dirty="0"/>
              <a:t> da alteração </a:t>
            </a:r>
          </a:p>
        </p:txBody>
      </p:sp>
    </p:spTree>
    <p:extLst>
      <p:ext uri="{BB962C8B-B14F-4D97-AF65-F5344CB8AC3E}">
        <p14:creationId xmlns:p14="http://schemas.microsoft.com/office/powerpoint/2010/main" val="199461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7611-37EA-3794-E5DC-DA3FAD57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9D8E-8697-611D-712C-F2465914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AA3-719D-2404-E02D-AD5D8A09BB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12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94A1E1-9D5B-AB2E-217D-ED8637089B03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Após </a:t>
            </a:r>
            <a:r>
              <a:rPr lang="pt-PT" b="0" dirty="0" err="1"/>
              <a:t>merge</a:t>
            </a:r>
            <a:r>
              <a:rPr lang="pt-PT" b="0" dirty="0"/>
              <a:t> do método </a:t>
            </a:r>
            <a:r>
              <a:rPr lang="pt-PT" b="0" dirty="0" err="1"/>
              <a:t>multiply</a:t>
            </a:r>
            <a:endParaRPr lang="pt-PT" b="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2F87DDB-8939-A202-53E6-7B1302078FB3}"/>
              </a:ext>
            </a:extLst>
          </p:cNvPr>
          <p:cNvSpPr txBox="1">
            <a:spLocks/>
          </p:cNvSpPr>
          <p:nvPr/>
        </p:nvSpPr>
        <p:spPr>
          <a:xfrm>
            <a:off x="1871999" y="4189149"/>
            <a:ext cx="4644516" cy="28800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b="0" dirty="0"/>
              <a:t>O código do método </a:t>
            </a:r>
            <a:r>
              <a:rPr lang="pt-PT" sz="1200" b="0" dirty="0" err="1"/>
              <a:t>multiply</a:t>
            </a:r>
            <a:r>
              <a:rPr lang="pt-PT" sz="1200" b="0" dirty="0"/>
              <a:t> foi copiado do bloco da esquerda para o do meio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792F7-1F1F-3869-F8BF-4FB0E6605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99" y="1358315"/>
            <a:ext cx="5400000" cy="283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5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76762-4040-5F17-45B0-1EE63BAC5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AC39-1044-2F32-488C-A7EC97AB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1B6A0-463D-6AAF-2A65-254E636CEE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13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AE3677-E295-0547-E326-10DF544E3DCC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Após </a:t>
            </a:r>
            <a:r>
              <a:rPr lang="pt-PT" b="0" dirty="0" err="1"/>
              <a:t>merge</a:t>
            </a:r>
            <a:r>
              <a:rPr lang="pt-PT" b="0" dirty="0"/>
              <a:t> do print do método </a:t>
            </a:r>
            <a:r>
              <a:rPr lang="pt-PT" b="0" dirty="0" err="1"/>
              <a:t>multiply</a:t>
            </a:r>
            <a:endParaRPr lang="pt-PT" b="0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F0AA4742-D3FC-575A-A75C-0E27740A6342}"/>
              </a:ext>
            </a:extLst>
          </p:cNvPr>
          <p:cNvSpPr txBox="1">
            <a:spLocks/>
          </p:cNvSpPr>
          <p:nvPr/>
        </p:nvSpPr>
        <p:spPr>
          <a:xfrm>
            <a:off x="1871999" y="4197077"/>
            <a:ext cx="4122458" cy="4235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b="0" dirty="0"/>
              <a:t>O código do print foi copiado do bloco da esquerda para o do meio.</a:t>
            </a:r>
          </a:p>
          <a:p>
            <a:r>
              <a:rPr lang="pt-PT" sz="1200" b="0" dirty="0"/>
              <a:t>Já não há conflitos vindos do lado do </a:t>
            </a:r>
            <a:r>
              <a:rPr lang="pt-PT" sz="1200" b="0" dirty="0" err="1"/>
              <a:t>main</a:t>
            </a:r>
            <a:endParaRPr lang="pt-PT" sz="1200" b="0" dirty="0"/>
          </a:p>
          <a:p>
            <a:endParaRPr lang="pt-PT" sz="1200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81AB56-70AE-8FEB-25F8-8A889F468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99" y="1363964"/>
            <a:ext cx="5400000" cy="283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C5A77-F9F2-6F06-2492-7719095C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66F91-BE62-273F-4A85-C0CF69A7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E3576-4CBF-5945-6E2E-23B5701F1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14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8A7CEF-5CD6-A1CD-B2ED-CB3AC70876E8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Após </a:t>
            </a:r>
            <a:r>
              <a:rPr lang="pt-PT" b="0" dirty="0" err="1"/>
              <a:t>merge</a:t>
            </a:r>
            <a:r>
              <a:rPr lang="pt-PT" b="0" dirty="0"/>
              <a:t> do método divide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653F1AC-EFB7-B44A-16C0-7409E6301E18}"/>
              </a:ext>
            </a:extLst>
          </p:cNvPr>
          <p:cNvSpPr txBox="1">
            <a:spLocks/>
          </p:cNvSpPr>
          <p:nvPr/>
        </p:nvSpPr>
        <p:spPr>
          <a:xfrm>
            <a:off x="1871999" y="4197077"/>
            <a:ext cx="4986554" cy="28800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b="0" dirty="0"/>
              <a:t>O código do método divide foi copiado do bloco da direita para o do meio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9EB5EE-85DA-1D2F-022A-D09CF096A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99" y="1363964"/>
            <a:ext cx="5400000" cy="283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98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F940-F172-CE98-2B17-BF2E6D9A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7B97-1A40-524E-6398-23255CB5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E703-0F32-9E28-6BF7-FB538FC654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15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67BEB0-B2B7-C45E-AE6A-38F5E3FFBB46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Após </a:t>
            </a:r>
            <a:r>
              <a:rPr lang="pt-PT" b="0" dirty="0" err="1"/>
              <a:t>merge</a:t>
            </a:r>
            <a:r>
              <a:rPr lang="pt-PT" b="0" dirty="0"/>
              <a:t> do print do método divide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687E321-502C-6C95-3603-6CA4321916C2}"/>
              </a:ext>
            </a:extLst>
          </p:cNvPr>
          <p:cNvSpPr txBox="1">
            <a:spLocks/>
          </p:cNvSpPr>
          <p:nvPr/>
        </p:nvSpPr>
        <p:spPr>
          <a:xfrm>
            <a:off x="1871999" y="4197077"/>
            <a:ext cx="3861430" cy="4235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b="0" dirty="0"/>
              <a:t>O código do print foi copiado do bloco da direita para o do meio.</a:t>
            </a:r>
          </a:p>
          <a:p>
            <a:r>
              <a:rPr lang="pt-PT" sz="1200" b="0" dirty="0"/>
              <a:t>Já não há conflitos vindos do lado do </a:t>
            </a:r>
            <a:r>
              <a:rPr lang="pt-PT" sz="1200" b="0" dirty="0" err="1"/>
              <a:t>branch</a:t>
            </a:r>
            <a:endParaRPr lang="pt-PT" sz="1200" b="0" dirty="0"/>
          </a:p>
          <a:p>
            <a:endParaRPr lang="pt-PT" sz="1200" b="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C7ACF0B-3AC8-C1E0-72A3-7E1AA0285224}"/>
              </a:ext>
            </a:extLst>
          </p:cNvPr>
          <p:cNvSpPr txBox="1">
            <a:spLocks/>
          </p:cNvSpPr>
          <p:nvPr/>
        </p:nvSpPr>
        <p:spPr>
          <a:xfrm>
            <a:off x="4802211" y="4408846"/>
            <a:ext cx="4122458" cy="4235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b="0" dirty="0"/>
              <a:t>Como já não há mais conflitos, aparece a mensagem a verde.</a:t>
            </a:r>
          </a:p>
          <a:p>
            <a:r>
              <a:rPr lang="pt-PT" sz="1200" b="0" dirty="0"/>
              <a:t>Clicar em “Save </a:t>
            </a:r>
            <a:r>
              <a:rPr lang="pt-PT" sz="1200" b="0" dirty="0" err="1"/>
              <a:t>changes</a:t>
            </a:r>
            <a:r>
              <a:rPr lang="pt-PT" sz="1200" b="0" dirty="0"/>
              <a:t> </a:t>
            </a:r>
            <a:r>
              <a:rPr lang="pt-PT" sz="1200" b="0" dirty="0" err="1"/>
              <a:t>and</a:t>
            </a:r>
            <a:r>
              <a:rPr lang="pt-PT" sz="1200" b="0" dirty="0"/>
              <a:t> </a:t>
            </a:r>
            <a:r>
              <a:rPr lang="pt-PT" sz="1200" b="0" dirty="0" err="1"/>
              <a:t>finish</a:t>
            </a:r>
            <a:r>
              <a:rPr lang="pt-PT" sz="1200" b="0" dirty="0"/>
              <a:t> </a:t>
            </a:r>
            <a:r>
              <a:rPr lang="pt-PT" sz="1200" b="0" dirty="0" err="1"/>
              <a:t>merging</a:t>
            </a:r>
            <a:r>
              <a:rPr lang="pt-PT" sz="1200" b="0" dirty="0"/>
              <a:t>” para terminar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2036A8-A143-EF2D-B929-DE6D99C1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999" y="1363964"/>
            <a:ext cx="5400000" cy="283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4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AA35-0F69-2768-776E-1A6B582E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0EE5DC-2FD3-8099-762F-D2A2555B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341885"/>
            <a:ext cx="4167924" cy="32806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6ADBD8-5754-1284-D1E2-ECA92C0D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 comuns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B4E05-757E-B31D-408D-E782F55C4CB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16</a:t>
            </a:fld>
            <a:endParaRPr lang="pt-PT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560E0C-2622-90A7-F0D0-C2C75E2169E7}"/>
              </a:ext>
            </a:extLst>
          </p:cNvPr>
          <p:cNvSpPr txBox="1">
            <a:spLocks/>
          </p:cNvSpPr>
          <p:nvPr/>
        </p:nvSpPr>
        <p:spPr>
          <a:xfrm>
            <a:off x="971600" y="645779"/>
            <a:ext cx="8640956" cy="8640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0" dirty="0"/>
              <a:t>Fazer </a:t>
            </a:r>
            <a:r>
              <a:rPr lang="pt-PT" b="0" dirty="0" err="1"/>
              <a:t>Push</a:t>
            </a:r>
            <a:r>
              <a:rPr lang="pt-PT" b="0" dirty="0"/>
              <a:t> de um </a:t>
            </a:r>
            <a:r>
              <a:rPr lang="pt-PT" b="0" dirty="0" err="1"/>
              <a:t>merge</a:t>
            </a:r>
            <a:endParaRPr lang="pt-PT" b="0" dirty="0"/>
          </a:p>
        </p:txBody>
      </p:sp>
    </p:spTree>
    <p:extLst>
      <p:ext uri="{BB962C8B-B14F-4D97-AF65-F5344CB8AC3E}">
        <p14:creationId xmlns:p14="http://schemas.microsoft.com/office/powerpoint/2010/main" val="481874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5373B-1FDB-C561-6925-2ED2CACD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work flow&#10;&#10;AI-generated content may be incorrect.">
            <a:extLst>
              <a:ext uri="{FF2B5EF4-FFF2-40B4-BE49-F238E27FC236}">
                <a16:creationId xmlns:a16="http://schemas.microsoft.com/office/drawing/2014/main" id="{109216D5-124F-2759-6542-8DD1816A2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774" y="3181417"/>
            <a:ext cx="3166681" cy="162259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0DBD779-801A-0C85-274C-C0701B2A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Recomendações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A1DAF840-EF7F-321C-671B-6B1B0DB90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0" y="720000"/>
            <a:ext cx="8424935" cy="3168352"/>
          </a:xfrm>
        </p:spPr>
        <p:txBody>
          <a:bodyPr>
            <a:normAutofit/>
          </a:bodyPr>
          <a:lstStyle/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Fazer Pull </a:t>
            </a:r>
            <a:r>
              <a:rPr lang="pt-PT" sz="1900" b="1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antes de começar a trabalhar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dirty="0">
                <a:solidFill>
                  <a:srgbClr val="000000"/>
                </a:solidFill>
                <a:cs typeface="Arial" panose="020B0604020202020204" pitchFamily="34" charset="0"/>
              </a:rPr>
              <a:t>Criar um </a:t>
            </a:r>
            <a:r>
              <a:rPr lang="pt-PT" sz="1900" i="1" dirty="0" err="1">
                <a:solidFill>
                  <a:srgbClr val="000000"/>
                </a:solidFill>
                <a:cs typeface="Arial" panose="020B0604020202020204" pitchFamily="34" charset="0"/>
              </a:rPr>
              <a:t>branch</a:t>
            </a:r>
            <a:r>
              <a:rPr lang="pt-PT" sz="1900" dirty="0">
                <a:solidFill>
                  <a:srgbClr val="000000"/>
                </a:solidFill>
                <a:cs typeface="Arial" panose="020B0604020202020204" pitchFamily="34" charset="0"/>
              </a:rPr>
              <a:t> único para cada </a:t>
            </a:r>
            <a:r>
              <a:rPr lang="pt-PT" sz="1900" i="1" dirty="0" err="1">
                <a:solidFill>
                  <a:srgbClr val="000000"/>
                </a:solidFill>
                <a:cs typeface="Arial" panose="020B0604020202020204" pitchFamily="34" charset="0"/>
              </a:rPr>
              <a:t>feature</a:t>
            </a:r>
            <a:r>
              <a:rPr lang="pt-PT" sz="19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pt-PT" sz="1900" dirty="0">
                <a:solidFill>
                  <a:srgbClr val="000000"/>
                </a:solidFill>
                <a:cs typeface="Arial" panose="020B0604020202020204" pitchFamily="34" charset="0"/>
              </a:rPr>
              <a:t>/ tarefa</a:t>
            </a:r>
            <a:endParaRPr lang="pt-PT" sz="1900" noProof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Fazer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Commits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frequentemente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com </a:t>
            </a: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descrições adequadas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noProof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Comunicar com os restantes elementos da equipa para saber o que cada um está a fazer, para facilitar a resolução de conflitos nos </a:t>
            </a:r>
            <a:r>
              <a:rPr lang="pt-PT" sz="1900" i="1" noProof="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merges</a:t>
            </a:r>
            <a:endParaRPr lang="pt-PT" sz="1900" noProof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B514BC8-33F5-787D-9A76-538EA02D4A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8937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6311-6E2B-0229-D47C-24337B81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146264D-53FA-6E90-449E-293A3AB7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 err="1"/>
              <a:t>Workflow</a:t>
            </a:r>
            <a:r>
              <a:rPr lang="pt-PT" u="sng" dirty="0"/>
              <a:t> básico para projetos de grupo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39AEDAC8-AE54-317E-B13D-8093D24A7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8496943" cy="3168352"/>
          </a:xfrm>
        </p:spPr>
        <p:txBody>
          <a:bodyPr>
            <a:normAutofit fontScale="77500" lnSpcReduction="20000"/>
          </a:bodyPr>
          <a:lstStyle/>
          <a:p>
            <a:pPr marL="457200" lvl="1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Arial" panose="020B0604020202020204" pitchFamily="34" charset="0"/>
              <a:buChar char="•"/>
            </a:pP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Início: Criação/Clone</a:t>
            </a: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Um elemento do grupo cria o repositório e o projeto e adiciona os restantes elementos como colaboradores</a:t>
            </a: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Os restantes elementos fazem clone do repositório</a:t>
            </a:r>
            <a:endParaRPr lang="en-US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endParaRPr lang="en-US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457200" lvl="1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Arial" panose="020B0604020202020204" pitchFamily="34" charset="0"/>
              <a:buChar char="•"/>
            </a:pP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Diariamente:</a:t>
            </a: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7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Fazer Pull da ultima versão antes de começar a trabalhar</a:t>
            </a: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Fazer alterações ao código</a:t>
            </a: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Fazer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Commits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frequentemente, com </a:t>
            </a:r>
            <a:r>
              <a:rPr lang="pt-PT" sz="17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mensagens claras</a:t>
            </a: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Fazer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Push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do trabalho concluído</a:t>
            </a:r>
          </a:p>
          <a:p>
            <a:pPr marL="817200" lvl="2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Resolver conflitos quando surgirem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endParaRPr lang="pt-PT" sz="21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F818B25-3CE2-209E-9744-F4BF008F69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2933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042F-556E-5A1F-0AEF-183A6321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8F11D65-2281-71F9-336B-4304E145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Configuração </a:t>
            </a:r>
            <a:r>
              <a:rPr lang="pt-PT" u="sng" dirty="0" err="1"/>
              <a:t>Git</a:t>
            </a:r>
            <a:r>
              <a:rPr lang="pt-PT" u="sng" dirty="0"/>
              <a:t> + </a:t>
            </a:r>
            <a:r>
              <a:rPr lang="pt-PT" u="sng" dirty="0" err="1"/>
              <a:t>IntelliJ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F14902F5-4822-3075-E36E-79ADD6AC66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8496943" cy="3940014"/>
          </a:xfrm>
        </p:spPr>
        <p:txBody>
          <a:bodyPr>
            <a:normAutofit fontScale="70000" lnSpcReduction="20000"/>
          </a:bodyPr>
          <a:lstStyle/>
          <a:p>
            <a:pPr marL="457200" lvl="1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(Com o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IntelliJ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fechado) Instalar o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  <a:hlinkClick r:id="rId3"/>
              </a:rPr>
              <a:t>https://git-scm.com/downloads</a:t>
            </a:r>
            <a:endParaRPr lang="pt-PT" sz="19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457200" lvl="1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Configurar o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no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IntelliJ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</a:t>
            </a: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File →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Settings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→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Version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Control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→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endParaRPr lang="pt-PT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Assegurar que o caminho para o executável do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esta correto</a:t>
            </a:r>
          </a:p>
          <a:p>
            <a:pPr marL="1005750" lvl="3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Após clicar em “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Test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”, deve aparecer a versão do 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endParaRPr lang="pt-PT" sz="15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endParaRPr lang="pt-PT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endParaRPr lang="pt-PT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endParaRPr lang="pt-PT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Por visível a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widget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do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(apenas necessário uma vez, e só depois de ter um projeto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aberto)</a:t>
            </a:r>
          </a:p>
          <a:p>
            <a:pPr marL="1005750" lvl="3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View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Appearance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&gt; Status Bar 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Widgests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Git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Branch</a:t>
            </a:r>
            <a:endParaRPr lang="pt-PT" sz="15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457200" lvl="1" indent="-4572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+mj-lt"/>
              <a:buAutoNum type="arabicPeriod"/>
            </a:pPr>
            <a:r>
              <a:rPr lang="pt-PT" sz="21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Criar conta no GitHub:</a:t>
            </a:r>
          </a:p>
          <a:p>
            <a:pPr marL="702900" lvl="2" indent="-3429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 o email do ISEP</a:t>
            </a:r>
          </a:p>
          <a:p>
            <a:pPr marL="702900" lvl="2" indent="-34290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Adicionar a conta ao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IntelliJ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Settings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→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Version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pt-PT" sz="19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Control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→ GitHub → </a:t>
            </a: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+</a:t>
            </a:r>
          </a:p>
          <a:p>
            <a:pPr lvl="1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</a:pPr>
            <a:endParaRPr lang="pt-PT" sz="21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69DA91-5D5F-C6CF-889F-3B73562FE08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19</a:t>
            </a:fld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11014-29B1-9CB4-F58F-A1B9E02A1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655" y="2180080"/>
            <a:ext cx="4222687" cy="78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5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101E-8859-93D2-ED5B-78600429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D11BDDA-511E-E6F1-BFBD-27335412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806898-F98E-87DB-EDEF-41E1BD54BF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2" y="1635646"/>
            <a:ext cx="4430584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novo repositório no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Adicionar Aluno B como colaborador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novo projeto Java </a:t>
            </a:r>
            <a:r>
              <a:rPr lang="pt-PT" b="0" dirty="0" err="1"/>
              <a:t>Maven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Na consola, na pasta do projeto: inicializar o repositório, fazer </a:t>
            </a:r>
            <a:r>
              <a:rPr lang="pt-PT" b="0" dirty="0" err="1"/>
              <a:t>Commit</a:t>
            </a:r>
            <a:r>
              <a:rPr lang="pt-PT" b="0" dirty="0"/>
              <a:t> &amp; </a:t>
            </a:r>
            <a:r>
              <a:rPr lang="pt-PT" b="0" dirty="0" err="1"/>
              <a:t>Push</a:t>
            </a:r>
            <a:r>
              <a:rPr lang="pt-PT" b="0" dirty="0"/>
              <a:t> para o repositório:</a:t>
            </a:r>
          </a:p>
          <a:p>
            <a:pPr marL="540000" lvl="3" indent="0">
              <a:buNone/>
            </a:pPr>
            <a:r>
              <a:rPr lang="en-US" sz="1100" b="0" dirty="0">
                <a:latin typeface="Consolas" panose="020B0609020204030204" pitchFamily="49" charset="0"/>
              </a:rPr>
              <a:t>git </a:t>
            </a:r>
            <a:r>
              <a:rPr lang="en-US" sz="1100" b="0" dirty="0" err="1">
                <a:latin typeface="Consolas" panose="020B0609020204030204" pitchFamily="49" charset="0"/>
              </a:rPr>
              <a:t>init</a:t>
            </a:r>
            <a:endParaRPr lang="en-US" sz="1100" b="0" dirty="0">
              <a:latin typeface="Consolas" panose="020B0609020204030204" pitchFamily="49" charset="0"/>
            </a:endParaRPr>
          </a:p>
          <a:p>
            <a:pPr marL="540000" lvl="3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git add .</a:t>
            </a:r>
          </a:p>
          <a:p>
            <a:pPr marL="540000" lvl="3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git commit -m "project creation"</a:t>
            </a:r>
            <a:endParaRPr lang="en-US" sz="1100" b="0" dirty="0">
              <a:latin typeface="Consolas" panose="020B0609020204030204" pitchFamily="49" charset="0"/>
            </a:endParaRPr>
          </a:p>
          <a:p>
            <a:pPr marL="540000" lvl="3" indent="0">
              <a:buNone/>
            </a:pPr>
            <a:r>
              <a:rPr lang="en-US" sz="1100" b="0" dirty="0">
                <a:latin typeface="Consolas" panose="020B0609020204030204" pitchFamily="49" charset="0"/>
              </a:rPr>
              <a:t>git remote add origin </a:t>
            </a:r>
            <a:r>
              <a:rPr lang="en-US" sz="1100" b="0" dirty="0">
                <a:solidFill>
                  <a:srgbClr val="FF0000"/>
                </a:solidFill>
                <a:latin typeface="Consolas" panose="020B0609020204030204" pitchFamily="49" charset="0"/>
              </a:rPr>
              <a:t>&lt;link do </a:t>
            </a:r>
            <a:r>
              <a:rPr lang="en-US" sz="1100" b="0" dirty="0" err="1">
                <a:solidFill>
                  <a:srgbClr val="FF0000"/>
                </a:solidFill>
                <a:latin typeface="Consolas" panose="020B0609020204030204" pitchFamily="49" charset="0"/>
              </a:rPr>
              <a:t>repositorio</a:t>
            </a:r>
            <a:r>
              <a:rPr lang="en-US" sz="1100" b="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540000" lvl="3" indent="0">
              <a:buNone/>
            </a:pPr>
            <a:r>
              <a:rPr lang="en-US" sz="1100" b="0" dirty="0">
                <a:latin typeface="Consolas" panose="020B0609020204030204" pitchFamily="49" charset="0"/>
              </a:rPr>
              <a:t>git branch -M main</a:t>
            </a:r>
          </a:p>
          <a:p>
            <a:pPr marL="540000" lvl="3" indent="0">
              <a:buNone/>
            </a:pPr>
            <a:r>
              <a:rPr lang="en-US" sz="1100" b="0" dirty="0">
                <a:latin typeface="Consolas" panose="020B0609020204030204" pitchFamily="49" charset="0"/>
              </a:rPr>
              <a:t>git push -u origin main</a:t>
            </a:r>
            <a:endParaRPr lang="pt-PT" sz="1100" b="0" dirty="0">
              <a:latin typeface="Consolas" panose="020B06090202040302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1E394-3144-9F19-7C88-6179D8BE1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948BC18-3D9A-1AEB-5C76-3378E5334F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20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3E8B7E-2E4D-E417-09B2-2FB2CFD96253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9871D9BF-62FA-A4BC-CC21-468DE47E373D}"/>
              </a:ext>
            </a:extLst>
          </p:cNvPr>
          <p:cNvSpPr txBox="1">
            <a:spLocks/>
          </p:cNvSpPr>
          <p:nvPr/>
        </p:nvSpPr>
        <p:spPr>
          <a:xfrm>
            <a:off x="4499992" y="1563638"/>
            <a:ext cx="4248472" cy="30963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700" b="0" dirty="0"/>
              <a:t>Fazer clone do repositório</a:t>
            </a:r>
          </a:p>
        </p:txBody>
      </p:sp>
    </p:spTree>
    <p:extLst>
      <p:ext uri="{BB962C8B-B14F-4D97-AF65-F5344CB8AC3E}">
        <p14:creationId xmlns:p14="http://schemas.microsoft.com/office/powerpoint/2010/main" val="235854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541-63B4-7C2C-EB3E-BAF5B8E6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43E4913-AC61-E320-03C8-E1BFB9B8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9D552D-8FE5-63A7-50CD-B00B047A75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2" y="1635646"/>
            <a:ext cx="4248472" cy="3024368"/>
          </a:xfrm>
        </p:spPr>
        <p:txBody>
          <a:bodyPr>
            <a:normAutofit fontScale="6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Editar a classe </a:t>
            </a:r>
            <a:r>
              <a:rPr lang="pt-PT" b="0" dirty="0" err="1"/>
              <a:t>Main</a:t>
            </a:r>
            <a:r>
              <a:rPr lang="pt-PT" b="0" dirty="0"/>
              <a:t> com o seguinte código: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r>
              <a:rPr lang="pt-PT" sz="1400" b="0" dirty="0" err="1">
                <a:latin typeface="Consolas" panose="020B0609020204030204" pitchFamily="49" charset="0"/>
              </a:rPr>
              <a:t>public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class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Main</a:t>
            </a:r>
            <a:r>
              <a:rPr lang="pt-PT" sz="1400" b="0" dirty="0">
                <a:latin typeface="Consolas" panose="020B0609020204030204" pitchFamily="49" charset="0"/>
              </a:rPr>
              <a:t> {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</a:t>
            </a:r>
            <a:r>
              <a:rPr lang="pt-PT" sz="1400" b="0" dirty="0" err="1">
                <a:latin typeface="Consolas" panose="020B0609020204030204" pitchFamily="49" charset="0"/>
              </a:rPr>
              <a:t>public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static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int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add</a:t>
            </a:r>
            <a:r>
              <a:rPr lang="pt-PT" sz="1400" b="0" dirty="0">
                <a:latin typeface="Consolas" panose="020B0609020204030204" pitchFamily="49" charset="0"/>
              </a:rPr>
              <a:t>(</a:t>
            </a:r>
            <a:r>
              <a:rPr lang="pt-PT" sz="1400" b="0" dirty="0" err="1">
                <a:latin typeface="Consolas" panose="020B0609020204030204" pitchFamily="49" charset="0"/>
              </a:rPr>
              <a:t>int</a:t>
            </a:r>
            <a:r>
              <a:rPr lang="pt-PT" sz="1400" b="0" dirty="0">
                <a:latin typeface="Consolas" panose="020B0609020204030204" pitchFamily="49" charset="0"/>
              </a:rPr>
              <a:t> a, </a:t>
            </a:r>
            <a:r>
              <a:rPr lang="pt-PT" sz="1400" b="0" dirty="0" err="1">
                <a:latin typeface="Consolas" panose="020B0609020204030204" pitchFamily="49" charset="0"/>
              </a:rPr>
              <a:t>int</a:t>
            </a:r>
            <a:r>
              <a:rPr lang="pt-PT" sz="1400" b="0" dirty="0">
                <a:latin typeface="Consolas" panose="020B0609020204030204" pitchFamily="49" charset="0"/>
              </a:rPr>
              <a:t> b) {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    </a:t>
            </a:r>
            <a:r>
              <a:rPr lang="pt-PT" sz="1400" b="0" dirty="0" err="1">
                <a:latin typeface="Consolas" panose="020B0609020204030204" pitchFamily="49" charset="0"/>
              </a:rPr>
              <a:t>return</a:t>
            </a:r>
            <a:r>
              <a:rPr lang="pt-PT" sz="1400" b="0" dirty="0">
                <a:latin typeface="Consolas" panose="020B0609020204030204" pitchFamily="49" charset="0"/>
              </a:rPr>
              <a:t> a + b;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}</a:t>
            </a:r>
          </a:p>
          <a:p>
            <a:endParaRPr lang="pt-PT" sz="1400" b="0" dirty="0">
              <a:latin typeface="Consolas" panose="020B0609020204030204" pitchFamily="49" charset="0"/>
            </a:endParaRPr>
          </a:p>
          <a:p>
            <a:r>
              <a:rPr lang="pt-PT" sz="1400" b="0" dirty="0">
                <a:latin typeface="Consolas" panose="020B0609020204030204" pitchFamily="49" charset="0"/>
              </a:rPr>
              <a:t>    </a:t>
            </a:r>
            <a:r>
              <a:rPr lang="pt-PT" sz="1400" b="0" dirty="0" err="1">
                <a:latin typeface="Consolas" panose="020B0609020204030204" pitchFamily="49" charset="0"/>
              </a:rPr>
              <a:t>public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static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int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subtract</a:t>
            </a:r>
            <a:r>
              <a:rPr lang="pt-PT" sz="1400" b="0" dirty="0">
                <a:latin typeface="Consolas" panose="020B0609020204030204" pitchFamily="49" charset="0"/>
              </a:rPr>
              <a:t>(</a:t>
            </a:r>
            <a:r>
              <a:rPr lang="pt-PT" sz="1400" b="0" dirty="0" err="1">
                <a:latin typeface="Consolas" panose="020B0609020204030204" pitchFamily="49" charset="0"/>
              </a:rPr>
              <a:t>int</a:t>
            </a:r>
            <a:r>
              <a:rPr lang="pt-PT" sz="1400" b="0" dirty="0">
                <a:latin typeface="Consolas" panose="020B0609020204030204" pitchFamily="49" charset="0"/>
              </a:rPr>
              <a:t> a, </a:t>
            </a:r>
            <a:r>
              <a:rPr lang="pt-PT" sz="1400" b="0" dirty="0" err="1">
                <a:latin typeface="Consolas" panose="020B0609020204030204" pitchFamily="49" charset="0"/>
              </a:rPr>
              <a:t>int</a:t>
            </a:r>
            <a:r>
              <a:rPr lang="pt-PT" sz="1400" b="0" dirty="0">
                <a:latin typeface="Consolas" panose="020B0609020204030204" pitchFamily="49" charset="0"/>
              </a:rPr>
              <a:t> b) {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    </a:t>
            </a:r>
            <a:r>
              <a:rPr lang="pt-PT" sz="1400" b="0" dirty="0" err="1">
                <a:latin typeface="Consolas" panose="020B0609020204030204" pitchFamily="49" charset="0"/>
              </a:rPr>
              <a:t>return</a:t>
            </a:r>
            <a:r>
              <a:rPr lang="pt-PT" sz="1400" b="0" dirty="0">
                <a:latin typeface="Consolas" panose="020B0609020204030204" pitchFamily="49" charset="0"/>
              </a:rPr>
              <a:t> a - b;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}</a:t>
            </a:r>
          </a:p>
          <a:p>
            <a:endParaRPr lang="pt-PT" sz="1400" b="0" dirty="0">
              <a:latin typeface="Consolas" panose="020B0609020204030204" pitchFamily="49" charset="0"/>
            </a:endParaRPr>
          </a:p>
          <a:p>
            <a:r>
              <a:rPr lang="pt-PT" sz="1400" b="0" dirty="0">
                <a:latin typeface="Consolas" panose="020B0609020204030204" pitchFamily="49" charset="0"/>
              </a:rPr>
              <a:t>    </a:t>
            </a:r>
            <a:r>
              <a:rPr lang="pt-PT" sz="1400" b="0" dirty="0" err="1">
                <a:latin typeface="Consolas" panose="020B0609020204030204" pitchFamily="49" charset="0"/>
              </a:rPr>
              <a:t>public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static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void</a:t>
            </a:r>
            <a:r>
              <a:rPr lang="pt-PT" sz="1400" b="0" dirty="0">
                <a:latin typeface="Consolas" panose="020B0609020204030204" pitchFamily="49" charset="0"/>
              </a:rPr>
              <a:t> </a:t>
            </a:r>
            <a:r>
              <a:rPr lang="pt-PT" sz="1400" b="0" dirty="0" err="1">
                <a:latin typeface="Consolas" panose="020B0609020204030204" pitchFamily="49" charset="0"/>
              </a:rPr>
              <a:t>main</a:t>
            </a:r>
            <a:r>
              <a:rPr lang="pt-PT" sz="1400" b="0" dirty="0">
                <a:latin typeface="Consolas" panose="020B0609020204030204" pitchFamily="49" charset="0"/>
              </a:rPr>
              <a:t>(</a:t>
            </a:r>
            <a:r>
              <a:rPr lang="pt-PT" sz="1400" b="0" dirty="0" err="1">
                <a:latin typeface="Consolas" panose="020B0609020204030204" pitchFamily="49" charset="0"/>
              </a:rPr>
              <a:t>String</a:t>
            </a:r>
            <a:r>
              <a:rPr lang="pt-PT" sz="1400" b="0" dirty="0">
                <a:latin typeface="Consolas" panose="020B0609020204030204" pitchFamily="49" charset="0"/>
              </a:rPr>
              <a:t>[] </a:t>
            </a:r>
            <a:r>
              <a:rPr lang="pt-PT" sz="1400" b="0" dirty="0" err="1">
                <a:latin typeface="Consolas" panose="020B0609020204030204" pitchFamily="49" charset="0"/>
              </a:rPr>
              <a:t>args</a:t>
            </a:r>
            <a:r>
              <a:rPr lang="pt-PT" sz="1400" b="0" dirty="0">
                <a:latin typeface="Consolas" panose="020B0609020204030204" pitchFamily="49" charset="0"/>
              </a:rPr>
              <a:t>) {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    </a:t>
            </a:r>
            <a:r>
              <a:rPr lang="pt-PT" sz="1400" b="0" dirty="0" err="1">
                <a:latin typeface="Consolas" panose="020B0609020204030204" pitchFamily="49" charset="0"/>
              </a:rPr>
              <a:t>System.out.println</a:t>
            </a:r>
            <a:r>
              <a:rPr lang="pt-PT" sz="1400" b="0" dirty="0">
                <a:latin typeface="Consolas" panose="020B0609020204030204" pitchFamily="49" charset="0"/>
              </a:rPr>
              <a:t>("2 + 3 = " + </a:t>
            </a:r>
            <a:r>
              <a:rPr lang="pt-PT" sz="1400" b="0" dirty="0" err="1">
                <a:latin typeface="Consolas" panose="020B0609020204030204" pitchFamily="49" charset="0"/>
              </a:rPr>
              <a:t>add</a:t>
            </a:r>
            <a:r>
              <a:rPr lang="pt-PT" sz="1400" b="0" dirty="0">
                <a:latin typeface="Consolas" panose="020B0609020204030204" pitchFamily="49" charset="0"/>
              </a:rPr>
              <a:t>(2, 3));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    </a:t>
            </a:r>
            <a:r>
              <a:rPr lang="pt-PT" sz="1400" b="0" dirty="0" err="1">
                <a:latin typeface="Consolas" panose="020B0609020204030204" pitchFamily="49" charset="0"/>
              </a:rPr>
              <a:t>System.out.println</a:t>
            </a:r>
            <a:r>
              <a:rPr lang="pt-PT" sz="1400" b="0" dirty="0">
                <a:latin typeface="Consolas" panose="020B0609020204030204" pitchFamily="49" charset="0"/>
              </a:rPr>
              <a:t>("5 - 2 = " + </a:t>
            </a:r>
            <a:r>
              <a:rPr lang="pt-PT" sz="1400" b="0" dirty="0" err="1">
                <a:latin typeface="Consolas" panose="020B0609020204030204" pitchFamily="49" charset="0"/>
              </a:rPr>
              <a:t>subtract</a:t>
            </a:r>
            <a:r>
              <a:rPr lang="pt-PT" sz="1400" b="0" dirty="0">
                <a:latin typeface="Consolas" panose="020B0609020204030204" pitchFamily="49" charset="0"/>
              </a:rPr>
              <a:t>(5, 2));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    }</a:t>
            </a:r>
          </a:p>
          <a:p>
            <a:r>
              <a:rPr lang="pt-PT" sz="1400" b="0" dirty="0">
                <a:latin typeface="Consolas" panose="020B0609020204030204" pitchFamily="49" charset="0"/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Verificar que está a correr sem problemas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 err="1"/>
              <a:t>Commit</a:t>
            </a:r>
            <a:r>
              <a:rPr lang="pt-PT" b="0" dirty="0"/>
              <a:t> (mensagem: </a:t>
            </a:r>
            <a:r>
              <a:rPr lang="pt-PT" b="0" dirty="0" err="1"/>
              <a:t>operations</a:t>
            </a:r>
            <a:r>
              <a:rPr lang="pt-PT" b="0" dirty="0"/>
              <a:t> </a:t>
            </a:r>
            <a:r>
              <a:rPr lang="pt-PT" b="0" dirty="0" err="1"/>
              <a:t>add</a:t>
            </a:r>
            <a:r>
              <a:rPr lang="pt-PT" b="0" dirty="0"/>
              <a:t> </a:t>
            </a:r>
            <a:r>
              <a:rPr lang="pt-PT" b="0" dirty="0" err="1"/>
              <a:t>and</a:t>
            </a:r>
            <a:r>
              <a:rPr lang="pt-PT" b="0" dirty="0"/>
              <a:t> </a:t>
            </a:r>
            <a:r>
              <a:rPr lang="pt-PT" b="0" dirty="0" err="1"/>
              <a:t>subtract</a:t>
            </a:r>
            <a:r>
              <a:rPr lang="pt-PT" b="0" dirty="0"/>
              <a:t>) &amp; </a:t>
            </a:r>
            <a:r>
              <a:rPr lang="pt-PT" b="0" dirty="0" err="1"/>
              <a:t>Push</a:t>
            </a:r>
            <a:r>
              <a:rPr lang="pt-PT" b="0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492C6-5AD3-58F5-AE50-168401907D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695F6A2-258A-078E-0ECF-1F47E72E2F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21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CBB440D-2DB8-88F5-4A68-60D6B7358F59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</p:spTree>
    <p:extLst>
      <p:ext uri="{BB962C8B-B14F-4D97-AF65-F5344CB8AC3E}">
        <p14:creationId xmlns:p14="http://schemas.microsoft.com/office/powerpoint/2010/main" val="1410830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B54B4-60C2-A2F4-859A-CF9B1723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EED0CCBF-77D5-C3F3-2DC0-715B7FA8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F0E331-D54A-6843-9AF0-4C93D4CB1B2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1" y="1635646"/>
            <a:ext cx="4502591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pull da última versão do repositório.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novo </a:t>
            </a:r>
            <a:r>
              <a:rPr lang="pt-PT" b="0" i="1" dirty="0" err="1"/>
              <a:t>branch</a:t>
            </a:r>
            <a:r>
              <a:rPr lang="pt-PT" b="0" dirty="0"/>
              <a:t> chamado </a:t>
            </a:r>
            <a:r>
              <a:rPr lang="pt-PT" b="0" dirty="0" err="1"/>
              <a:t>multiplication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Adicionar método </a:t>
            </a:r>
            <a:r>
              <a:rPr lang="pt-PT" b="0" dirty="0" err="1"/>
              <a:t>multiply</a:t>
            </a:r>
            <a:r>
              <a:rPr lang="pt-PT" b="0" dirty="0"/>
              <a:t> à classe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Adicionar print de uma multiplicação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Verificar que o projeto corre sem erros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Commit</a:t>
            </a:r>
            <a:r>
              <a:rPr lang="pt-PT" b="0" dirty="0"/>
              <a:t> (mensagem: </a:t>
            </a:r>
            <a:r>
              <a:rPr lang="pt-PT" b="0" dirty="0" err="1"/>
              <a:t>operation</a:t>
            </a:r>
            <a:r>
              <a:rPr lang="pt-PT" b="0" dirty="0"/>
              <a:t> </a:t>
            </a:r>
            <a:r>
              <a:rPr lang="pt-PT" b="0" dirty="0" err="1"/>
              <a:t>multiply</a:t>
            </a:r>
            <a:r>
              <a:rPr lang="pt-PT" b="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Push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CA5C3-540E-A42B-22C3-AEC87FF830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D714F13-8299-8EDE-189A-B280DA1BCA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22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600BAC-59E0-B3B2-6607-6D5CE44677A8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D2BA045-C894-31CA-7480-C69DBE64821C}"/>
              </a:ext>
            </a:extLst>
          </p:cNvPr>
          <p:cNvSpPr txBox="1">
            <a:spLocks/>
          </p:cNvSpPr>
          <p:nvPr/>
        </p:nvSpPr>
        <p:spPr>
          <a:xfrm>
            <a:off x="4533904" y="16356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pull da última versão do repositório.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novo </a:t>
            </a:r>
            <a:r>
              <a:rPr lang="pt-PT" b="0" i="1" dirty="0" err="1"/>
              <a:t>branch</a:t>
            </a:r>
            <a:r>
              <a:rPr lang="pt-PT" b="0" dirty="0"/>
              <a:t> chamado </a:t>
            </a:r>
            <a:r>
              <a:rPr lang="pt-PT" b="0" dirty="0" err="1"/>
              <a:t>division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Adicionar método divide à classe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Adicionar print de uma divisão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Verificar que o projeto corre sem erros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Commit</a:t>
            </a:r>
            <a:r>
              <a:rPr lang="pt-PT" b="0" dirty="0"/>
              <a:t> (mensagem: </a:t>
            </a:r>
            <a:r>
              <a:rPr lang="pt-PT" b="0" dirty="0" err="1"/>
              <a:t>operation</a:t>
            </a:r>
            <a:r>
              <a:rPr lang="pt-PT" b="0" dirty="0"/>
              <a:t> divide)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Push</a:t>
            </a:r>
            <a:endParaRPr lang="pt-PT" b="0" dirty="0"/>
          </a:p>
        </p:txBody>
      </p:sp>
    </p:spTree>
    <p:extLst>
      <p:ext uri="{BB962C8B-B14F-4D97-AF65-F5344CB8AC3E}">
        <p14:creationId xmlns:p14="http://schemas.microsoft.com/office/powerpoint/2010/main" val="2687030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3009-1832-1644-7BE9-90BF7788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EC39BBC-87C1-791B-FAEE-148CFDB1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6D106B-F04A-D52D-9FAA-607C8DC44A7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7824" y="1146991"/>
            <a:ext cx="4718617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Voltar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pull das alterações mais recentes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merge</a:t>
            </a:r>
            <a:r>
              <a:rPr lang="pt-PT" sz="1100" b="0" dirty="0"/>
              <a:t> do </a:t>
            </a:r>
            <a:r>
              <a:rPr lang="pt-PT" sz="1100" dirty="0"/>
              <a:t>seu</a:t>
            </a:r>
            <a:r>
              <a:rPr lang="pt-PT" sz="1100" b="0" dirty="0"/>
              <a:t> </a:t>
            </a:r>
            <a:r>
              <a:rPr lang="pt-PT" sz="1100" b="0" dirty="0" err="1"/>
              <a:t>branch</a:t>
            </a:r>
            <a:r>
              <a:rPr lang="pt-PT" sz="1100" b="0" dirty="0"/>
              <a:t>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Resolver os conflitos que aparecerem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Commit</a:t>
            </a:r>
            <a:r>
              <a:rPr lang="pt-PT" sz="1100" b="0" dirty="0"/>
              <a:t> do </a:t>
            </a:r>
            <a:r>
              <a:rPr lang="pt-PT" sz="1100" b="0" dirty="0" err="1"/>
              <a:t>merge</a:t>
            </a:r>
            <a:r>
              <a:rPr lang="pt-PT" sz="1100" b="0" dirty="0"/>
              <a:t> (</a:t>
            </a:r>
            <a:r>
              <a:rPr lang="pt-PT" sz="1100" b="0" dirty="0" err="1"/>
              <a:t>branch</a:t>
            </a:r>
            <a:r>
              <a:rPr lang="pt-PT" sz="1100" b="0" dirty="0"/>
              <a:t> principal)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Push</a:t>
            </a:r>
            <a:r>
              <a:rPr lang="pt-PT" sz="1100" b="0" dirty="0"/>
              <a:t> do </a:t>
            </a:r>
            <a:r>
              <a:rPr lang="pt-PT" sz="1100" b="0" dirty="0" err="1"/>
              <a:t>merge</a:t>
            </a:r>
            <a:r>
              <a:rPr lang="pt-PT" sz="1100" b="0" dirty="0"/>
              <a:t> para o repositório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Pull das alterações mais recentes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7126-8BDB-876A-AD67-A882D72792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2144" y="778235"/>
            <a:ext cx="4248471" cy="432048"/>
          </a:xfrm>
        </p:spPr>
        <p:txBody>
          <a:bodyPr/>
          <a:lstStyle/>
          <a:p>
            <a:r>
              <a:rPr lang="pt-PT" dirty="0"/>
              <a:t>Aluno (primeiro a acabar)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A3878C3-DE99-27D0-950C-1056C5A080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23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554ACAD-0E7C-08CE-E2A3-44055EC95A5F}"/>
              </a:ext>
            </a:extLst>
          </p:cNvPr>
          <p:cNvSpPr txBox="1">
            <a:spLocks/>
          </p:cNvSpPr>
          <p:nvPr/>
        </p:nvSpPr>
        <p:spPr>
          <a:xfrm>
            <a:off x="4572622" y="778235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(outro)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F3D033F-98D3-E5F0-6C8D-0C8CCB749065}"/>
              </a:ext>
            </a:extLst>
          </p:cNvPr>
          <p:cNvSpPr txBox="1">
            <a:spLocks/>
          </p:cNvSpPr>
          <p:nvPr/>
        </p:nvSpPr>
        <p:spPr>
          <a:xfrm>
            <a:off x="4174354" y="1132381"/>
            <a:ext cx="4932040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Voltar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Pull das alterações mais recentes (já com alterações do colega)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merge</a:t>
            </a:r>
            <a:r>
              <a:rPr lang="pt-PT" sz="1100" b="0" dirty="0"/>
              <a:t> do </a:t>
            </a:r>
            <a:r>
              <a:rPr lang="pt-PT" sz="1100" dirty="0"/>
              <a:t>seu</a:t>
            </a:r>
            <a:r>
              <a:rPr lang="pt-PT" sz="1100" b="0" dirty="0"/>
              <a:t> </a:t>
            </a:r>
            <a:r>
              <a:rPr lang="pt-PT" sz="1100" b="0" dirty="0" err="1"/>
              <a:t>branch</a:t>
            </a:r>
            <a:r>
              <a:rPr lang="pt-PT" sz="1100" b="0" dirty="0"/>
              <a:t>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Resolver os conflitos que aparecerem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Commit</a:t>
            </a:r>
            <a:r>
              <a:rPr lang="pt-PT" sz="1100" b="0" dirty="0"/>
              <a:t> do </a:t>
            </a:r>
            <a:r>
              <a:rPr lang="pt-PT" sz="1100" b="0" dirty="0" err="1"/>
              <a:t>merge</a:t>
            </a:r>
            <a:r>
              <a:rPr lang="pt-PT" sz="1100" b="0" dirty="0"/>
              <a:t> (</a:t>
            </a:r>
            <a:r>
              <a:rPr lang="pt-PT" sz="1100" b="0" dirty="0" err="1"/>
              <a:t>branch</a:t>
            </a:r>
            <a:r>
              <a:rPr lang="pt-PT" sz="1100" b="0" dirty="0"/>
              <a:t> principal)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Push</a:t>
            </a:r>
            <a:r>
              <a:rPr lang="pt-PT" sz="1100" b="0" dirty="0"/>
              <a:t> do </a:t>
            </a:r>
            <a:r>
              <a:rPr lang="pt-PT" sz="1100" b="0" dirty="0" err="1"/>
              <a:t>merge</a:t>
            </a:r>
            <a:r>
              <a:rPr lang="pt-PT" sz="1100" b="0" dirty="0"/>
              <a:t> para o repositório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D3C04-6BDC-89EE-8B06-A25502AD7E1E}"/>
              </a:ext>
            </a:extLst>
          </p:cNvPr>
          <p:cNvSpPr txBox="1"/>
          <p:nvPr/>
        </p:nvSpPr>
        <p:spPr>
          <a:xfrm>
            <a:off x="1043608" y="4241387"/>
            <a:ext cx="86070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1" dirty="0"/>
              <a:t>Resultado final esperado</a:t>
            </a:r>
            <a:r>
              <a:rPr lang="pt-PT" sz="1400" b="0" dirty="0"/>
              <a:t>: Ambos os alunos têm todas as operações da calculadora funcionais</a:t>
            </a:r>
          </a:p>
        </p:txBody>
      </p:sp>
    </p:spTree>
    <p:extLst>
      <p:ext uri="{BB962C8B-B14F-4D97-AF65-F5344CB8AC3E}">
        <p14:creationId xmlns:p14="http://schemas.microsoft.com/office/powerpoint/2010/main" val="194143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0E451E-9331-14EB-0942-4D475CE3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Árvore do </a:t>
            </a:r>
            <a:r>
              <a:rPr lang="pt-PT" dirty="0" err="1"/>
              <a:t>git</a:t>
            </a: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6A9E-44E5-EA9A-A9CE-99C4481506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24</a:t>
            </a:fld>
            <a:endParaRPr lang="pt-PT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BF8448-76FA-C62F-268A-F9A99CEBC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684418"/>
            <a:ext cx="87820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melh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0F40A57A4B4943AE5F0D22A00E6876" ma:contentTypeVersion="12" ma:contentTypeDescription="Criar um novo documento." ma:contentTypeScope="" ma:versionID="8ba698dde46e35a06eb1475bb2b057f6">
  <xsd:schema xmlns:xsd="http://www.w3.org/2001/XMLSchema" xmlns:xs="http://www.w3.org/2001/XMLSchema" xmlns:p="http://schemas.microsoft.com/office/2006/metadata/properties" xmlns:ns2="6e977478-40fc-4c96-9b59-58f9adc62218" xmlns:ns3="53cb793a-ca02-4ac3-a46e-73c4c2fe76b7" targetNamespace="http://schemas.microsoft.com/office/2006/metadata/properties" ma:root="true" ma:fieldsID="1eba2e609a7e0a8b3df56a0430d5692b" ns2:_="" ns3:_="">
    <xsd:import namespace="6e977478-40fc-4c96-9b59-58f9adc62218"/>
    <xsd:import namespace="53cb793a-ca02-4ac3-a46e-73c4c2fe76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77478-40fc-4c96-9b59-58f9adc622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m" ma:readOnly="false" ma:fieldId="{5cf76f15-5ced-4ddc-b409-7134ff3c332f}" ma:taxonomyMulti="true" ma:sspId="abd39c20-4416-4a86-a41d-df69d8f2de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cb793a-ca02-4ac3-a46e-73c4c2fe76b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e0864-b2fa-416b-81eb-660d81cce739}" ma:internalName="TaxCatchAll" ma:showField="CatchAllData" ma:web="53cb793a-ca02-4ac3-a46e-73c4c2fe76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cb793a-ca02-4ac3-a46e-73c4c2fe76b7" xsi:nil="true"/>
    <lcf76f155ced4ddcb4097134ff3c332f xmlns="6e977478-40fc-4c96-9b59-58f9adc622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D16E4FD-E771-4A73-92BB-3285A0212F47}"/>
</file>

<file path=customXml/itemProps2.xml><?xml version="1.0" encoding="utf-8"?>
<ds:datastoreItem xmlns:ds="http://schemas.openxmlformats.org/officeDocument/2006/customXml" ds:itemID="{1AA451BA-CF64-4E5A-B704-4530BEACE0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FCBCEF-5769-4BC7-BAA3-A2426996F6D7}">
  <ds:schemaRefs>
    <ds:schemaRef ds:uri="http://schemas.microsoft.com/office/2006/metadata/properties"/>
    <ds:schemaRef ds:uri="http://schemas.microsoft.com/office/infopath/2007/PartnerControls"/>
    <ds:schemaRef ds:uri="53cb793a-ca02-4ac3-a46e-73c4c2fe76b7"/>
    <ds:schemaRef ds:uri="6e977478-40fc-4c96-9b59-58f9adc622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12754</TotalTime>
  <Words>1091</Words>
  <Application>Microsoft Office PowerPoint</Application>
  <PresentationFormat>On-screen Show (16:9)</PresentationFormat>
  <Paragraphs>232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Wingdings</vt:lpstr>
      <vt:lpstr>Office Theme</vt:lpstr>
      <vt:lpstr>Modelação e Programação  1º Ano, 2º Semestre </vt:lpstr>
      <vt:lpstr>Introdução</vt:lpstr>
      <vt:lpstr>Conceitos 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Operações comuns</vt:lpstr>
      <vt:lpstr>Recomendações</vt:lpstr>
      <vt:lpstr>Workflow básico para projetos de grupo</vt:lpstr>
      <vt:lpstr>Configuração Git + IntelliJ</vt:lpstr>
      <vt:lpstr>Exercício – Calculadora (em grupos de 2)</vt:lpstr>
      <vt:lpstr>Exercício – Calculadora (em grupos de 2)</vt:lpstr>
      <vt:lpstr>Exercício – Calculadora (em grupos de 2)</vt:lpstr>
      <vt:lpstr>Exercício – Calculadora (em grupos de 2)</vt:lpstr>
      <vt:lpstr>Árvore do 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Barbara Mota</dc:creator>
  <cp:lastModifiedBy>Catarina Félix De Oliveira</cp:lastModifiedBy>
  <cp:revision>218</cp:revision>
  <dcterms:created xsi:type="dcterms:W3CDTF">2021-05-21T09:47:05Z</dcterms:created>
  <dcterms:modified xsi:type="dcterms:W3CDTF">2026-04-22T11:55:55Z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0x0101008F0F40A57A4B4943AE5F0D22A00E6876</vt:lpwstr>
  </property>
</Properties>
</file>