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sldIdLst>
    <p:sldId id="263" r:id="rId5"/>
    <p:sldId id="364" r:id="rId6"/>
    <p:sldId id="591" r:id="rId7"/>
    <p:sldId id="584" r:id="rId8"/>
    <p:sldId id="585" r:id="rId9"/>
    <p:sldId id="592" r:id="rId10"/>
    <p:sldId id="593" r:id="rId11"/>
    <p:sldId id="594" r:id="rId12"/>
    <p:sldId id="595" r:id="rId13"/>
    <p:sldId id="586" r:id="rId14"/>
    <p:sldId id="579" r:id="rId15"/>
    <p:sldId id="580" r:id="rId16"/>
    <p:sldId id="587" r:id="rId17"/>
    <p:sldId id="588" r:id="rId18"/>
    <p:sldId id="590" r:id="rId19"/>
    <p:sldId id="581" r:id="rId20"/>
    <p:sldId id="583" r:id="rId21"/>
    <p:sldId id="607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6177AB-4414-9612-F015-E35ED83FC93E}" name="Marílio Cardoso" initials="MC" userId="2fef8e3ac33b986a" providerId="Windows Live"/>
  <p188:author id="{4E8565B7-BE21-6251-F038-1D020AB69D38}" name="Dulce Mota" initials="DM" userId="a7cb2ea3e4b8740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441C"/>
    <a:srgbClr val="FED517"/>
    <a:srgbClr val="385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Estilo Claro 1 - Destaqu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 autoAdjust="0"/>
    <p:restoredTop sz="83414" autoAdjust="0"/>
  </p:normalViewPr>
  <p:slideViewPr>
    <p:cSldViewPr snapToObjects="1">
      <p:cViewPr varScale="1">
        <p:scale>
          <a:sx n="76" d="100"/>
          <a:sy n="76" d="100"/>
        </p:scale>
        <p:origin x="1236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693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C90753-7296-4D12-94D4-46C86712C4B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559F67-DD9D-43FB-A7B0-42314644FEA2}">
      <dgm:prSet/>
      <dgm:spPr>
        <a:solidFill>
          <a:schemeClr val="bg2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pt-PT" b="1" baseline="0" dirty="0"/>
            <a:t>Testes Unitários</a:t>
          </a:r>
          <a:endParaRPr lang="en-US" dirty="0"/>
        </a:p>
      </dgm:t>
    </dgm:pt>
    <dgm:pt modelId="{11F6BFCF-D6C0-419C-B99F-8E56F0304369}" type="parTrans" cxnId="{9193E8B7-786A-4BFB-A9E2-DF79AD428223}">
      <dgm:prSet/>
      <dgm:spPr/>
      <dgm:t>
        <a:bodyPr/>
        <a:lstStyle/>
        <a:p>
          <a:endParaRPr lang="en-US"/>
        </a:p>
      </dgm:t>
    </dgm:pt>
    <dgm:pt modelId="{3A9A838E-344D-4A54-A4E4-D68C616A87E5}" type="sibTrans" cxnId="{9193E8B7-786A-4BFB-A9E2-DF79AD428223}">
      <dgm:prSet/>
      <dgm:spPr/>
      <dgm:t>
        <a:bodyPr/>
        <a:lstStyle/>
        <a:p>
          <a:endParaRPr lang="en-US"/>
        </a:p>
      </dgm:t>
    </dgm:pt>
    <dgm:pt modelId="{2C576FEF-8AD0-48D8-8D01-7599D3D8B19F}" type="pres">
      <dgm:prSet presAssocID="{27C90753-7296-4D12-94D4-46C86712C4B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C70B3F-83F3-49E8-AD3E-066CF7A8DEE1}" type="pres">
      <dgm:prSet presAssocID="{04559F67-DD9D-43FB-A7B0-42314644FEA2}" presName="hierRoot1" presStyleCnt="0"/>
      <dgm:spPr/>
    </dgm:pt>
    <dgm:pt modelId="{27FE039F-B66A-45BC-BB87-22DF2C705740}" type="pres">
      <dgm:prSet presAssocID="{04559F67-DD9D-43FB-A7B0-42314644FEA2}" presName="composite" presStyleCnt="0"/>
      <dgm:spPr/>
    </dgm:pt>
    <dgm:pt modelId="{A0A765C9-65CA-4E96-94C9-BFA756FF8F2B}" type="pres">
      <dgm:prSet presAssocID="{04559F67-DD9D-43FB-A7B0-42314644FEA2}" presName="background" presStyleLbl="node0" presStyleIdx="0" presStyleCnt="1"/>
      <dgm:spPr>
        <a:solidFill>
          <a:schemeClr val="bg2">
            <a:lumMod val="75000"/>
          </a:schemeClr>
        </a:solidFill>
      </dgm:spPr>
    </dgm:pt>
    <dgm:pt modelId="{D4126916-74B4-464C-B15D-8E0DED8EB6E5}" type="pres">
      <dgm:prSet presAssocID="{04559F67-DD9D-43FB-A7B0-42314644FEA2}" presName="text" presStyleLbl="fgAcc0" presStyleIdx="0" presStyleCnt="1">
        <dgm:presLayoutVars>
          <dgm:chPref val="3"/>
        </dgm:presLayoutVars>
      </dgm:prSet>
      <dgm:spPr/>
    </dgm:pt>
    <dgm:pt modelId="{120D4C71-9B1C-4BB7-BDE2-65BD35C88B88}" type="pres">
      <dgm:prSet presAssocID="{04559F67-DD9D-43FB-A7B0-42314644FEA2}" presName="hierChild2" presStyleCnt="0"/>
      <dgm:spPr/>
    </dgm:pt>
  </dgm:ptLst>
  <dgm:cxnLst>
    <dgm:cxn modelId="{4679F2B4-45FE-4240-A94B-48AD241923AE}" type="presOf" srcId="{04559F67-DD9D-43FB-A7B0-42314644FEA2}" destId="{D4126916-74B4-464C-B15D-8E0DED8EB6E5}" srcOrd="0" destOrd="0" presId="urn:microsoft.com/office/officeart/2005/8/layout/hierarchy1"/>
    <dgm:cxn modelId="{6BFAC2B6-821A-4BA3-957F-12D171C36580}" type="presOf" srcId="{27C90753-7296-4D12-94D4-46C86712C4B6}" destId="{2C576FEF-8AD0-48D8-8D01-7599D3D8B19F}" srcOrd="0" destOrd="0" presId="urn:microsoft.com/office/officeart/2005/8/layout/hierarchy1"/>
    <dgm:cxn modelId="{9193E8B7-786A-4BFB-A9E2-DF79AD428223}" srcId="{27C90753-7296-4D12-94D4-46C86712C4B6}" destId="{04559F67-DD9D-43FB-A7B0-42314644FEA2}" srcOrd="0" destOrd="0" parTransId="{11F6BFCF-D6C0-419C-B99F-8E56F0304369}" sibTransId="{3A9A838E-344D-4A54-A4E4-D68C616A87E5}"/>
    <dgm:cxn modelId="{176B8687-2873-4BEA-9A39-D474117BCB1B}" type="presParOf" srcId="{2C576FEF-8AD0-48D8-8D01-7599D3D8B19F}" destId="{91C70B3F-83F3-49E8-AD3E-066CF7A8DEE1}" srcOrd="0" destOrd="0" presId="urn:microsoft.com/office/officeart/2005/8/layout/hierarchy1"/>
    <dgm:cxn modelId="{F75E5A97-6AA3-4781-A291-2EBCCE5F374B}" type="presParOf" srcId="{91C70B3F-83F3-49E8-AD3E-066CF7A8DEE1}" destId="{27FE039F-B66A-45BC-BB87-22DF2C705740}" srcOrd="0" destOrd="0" presId="urn:microsoft.com/office/officeart/2005/8/layout/hierarchy1"/>
    <dgm:cxn modelId="{DCF3E8B1-6734-4235-8DE4-A6BA846157CD}" type="presParOf" srcId="{27FE039F-B66A-45BC-BB87-22DF2C705740}" destId="{A0A765C9-65CA-4E96-94C9-BFA756FF8F2B}" srcOrd="0" destOrd="0" presId="urn:microsoft.com/office/officeart/2005/8/layout/hierarchy1"/>
    <dgm:cxn modelId="{A3057758-04E6-4800-BA7B-006A66A59A75}" type="presParOf" srcId="{27FE039F-B66A-45BC-BB87-22DF2C705740}" destId="{D4126916-74B4-464C-B15D-8E0DED8EB6E5}" srcOrd="1" destOrd="0" presId="urn:microsoft.com/office/officeart/2005/8/layout/hierarchy1"/>
    <dgm:cxn modelId="{167B00CA-51E5-46AE-8750-F381FCE40B0C}" type="presParOf" srcId="{91C70B3F-83F3-49E8-AD3E-066CF7A8DEE1}" destId="{120D4C71-9B1C-4BB7-BDE2-65BD35C88B8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A765C9-65CA-4E96-94C9-BFA756FF8F2B}">
      <dsp:nvSpPr>
        <dsp:cNvPr id="0" name=""/>
        <dsp:cNvSpPr/>
      </dsp:nvSpPr>
      <dsp:spPr>
        <a:xfrm>
          <a:off x="0" y="23961"/>
          <a:ext cx="3823624" cy="2428001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26916-74B4-464C-B15D-8E0DED8EB6E5}">
      <dsp:nvSpPr>
        <dsp:cNvPr id="0" name=""/>
        <dsp:cNvSpPr/>
      </dsp:nvSpPr>
      <dsp:spPr>
        <a:xfrm>
          <a:off x="424847" y="427566"/>
          <a:ext cx="3823624" cy="2428001"/>
        </a:xfrm>
        <a:prstGeom prst="roundRect">
          <a:avLst>
            <a:gd name="adj" fmla="val 10000"/>
          </a:avLst>
        </a:prstGeom>
        <a:solidFill>
          <a:schemeClr val="bg2">
            <a:lumMod val="60000"/>
            <a:lumOff val="40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400" b="1" kern="1200" baseline="0" dirty="0"/>
            <a:t>Testes Unitários</a:t>
          </a:r>
          <a:endParaRPr lang="en-US" sz="6400" kern="1200" dirty="0"/>
        </a:p>
      </dsp:txBody>
      <dsp:txXfrm>
        <a:off x="495961" y="498680"/>
        <a:ext cx="3681396" cy="22857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44EA3-AA2C-4D31-8163-3D3E5B221A9C}" type="datetimeFigureOut">
              <a:rPr lang="pt-PT" smtClean="0"/>
              <a:t>ter 21/04/2026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15F50-62B8-495B-9753-EC9DFE56959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56303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38082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439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5775-8104-5F58-B970-FD35B2A06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B019E87-1219-6409-82E2-2E5003BC2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58BAA8F-099A-E491-4987-475C86849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BF92429-AA53-4A94-7CCE-2C80BDA7F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58103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65F3-088E-FD75-3FF0-9BD664F23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1BC3D29-66D0-6FA6-0859-F1DECE4E4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1EC773A-A252-49E2-16C3-99AC39CCB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1D933BF-0052-745A-D74E-68C4356EF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590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1760-3F90-7B0D-7D28-D090B9E9C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E5BBC17-8D77-7648-74C1-8B205B427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452CA56-8987-23E9-A360-D9B2652BD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E7F45F4-1CA1-8F9F-ECDB-23A33261A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96749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8B1F5-2751-5059-0CAF-27754B39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DC767A7-DA88-CC92-8CCA-7722B8A77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DA6D0D5-A999-7E89-99AD-6494441A0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6074999-8E79-EE7F-4A80-7B5A204D0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8991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29579-B295-AEEF-4779-DC2EF910F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3564C82-6BC2-9AF7-4414-E9EE4C02F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E45B99B-3A38-EEE1-B3A0-F6C5CBDB5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ACC574-6AAE-1C00-8A56-D8C957495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3700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47342-829E-8276-8FB5-D0AE6CEA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788E095-F2FD-DD3F-54AB-E3AB835D4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06F7559-D516-5FDD-218A-804716C0B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04E3DF9-ABD2-05EB-FFB9-DAE6D54FF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4289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90B77-0D7A-FA48-79F7-3D146383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CADF278-DF1C-F512-8851-C8EE02713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5E06398-DDDF-EECC-9058-83F6575B4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533AE38-6C6C-3F67-5417-056862CA6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28864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A091B-C600-E3DF-AABA-1BEE50CFA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E5BC7DD-42B5-B122-C1E3-F402D2F99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C322D1F-4A4E-D4DE-4A0D-578AA0981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91ABC6C-4EE0-0928-29EC-11CCB7041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9237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B54D8-2A6E-B4DB-D802-224C24A6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11896F6-13B1-EF3F-DF48-E609DF247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4047F26-E41B-8166-7106-0876B4FBC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004637E-3CB9-B09C-A2C4-4765CEA8C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22372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2D8CC-8264-6276-A105-477977479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5877BD1-1C5D-5FDA-2AAC-551A3609B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7D382A8-C28A-11FB-E63C-3AA881A62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16F6619-5780-16D3-6B02-1C6E0DD36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37768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8BE15-FD9F-F2A5-E628-E1845CC7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BC323B7-F2A7-085A-907F-0701E863E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D2E445B-8039-C32E-B152-294CC014F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4C30E68-3A5D-4EDB-9DEE-59E8CA36D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511604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BCC6-2D03-C675-0F1F-E825F8E8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74DA602-D910-693A-FC69-CC2381C3D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14D9742-107B-F239-CD81-617A7B968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04161F6-ECA1-9455-3F86-3B5C8B788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64597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CB327-0965-FF6F-F2BB-1A7AD31DC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58BB951-0D23-DE32-5123-CB358A4F1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D27D928-AFDB-1010-E9B8-BB40D0562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DEB47C4-44CC-BC10-83C0-034EA8E5F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8908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35AE-9BB3-0C66-043F-8730D9A05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3EF4DD4-E564-658A-9FE3-77DA73FC8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3055065-6076-52C6-74E4-372F2EC6A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9AFC0F8-41C3-39BB-BD90-146C2D83A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87735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E41A3-E0E2-130B-B0BC-8C7EE318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63366AD-C476-FC41-CDAB-F14E4A611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DF0E065E-5F15-2229-9C5E-C31659F4E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FCF66B7-9BCB-6B40-C1A1-02B3F4B16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15F50-62B8-495B-9753-EC9DFE56959B}" type="slidenum">
              <a:rPr lang="pt-PT" smtClean="0"/>
              <a:t>17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28667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4"/>
          <p:cNvSpPr/>
          <p:nvPr userDrawn="1"/>
        </p:nvSpPr>
        <p:spPr>
          <a:xfrm>
            <a:off x="0" y="4068000"/>
            <a:ext cx="9144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91680" y="1851671"/>
            <a:ext cx="5760640" cy="720080"/>
          </a:xfrm>
        </p:spPr>
        <p:txBody>
          <a:bodyPr>
            <a:normAutofit/>
          </a:bodyPr>
          <a:lstStyle>
            <a:lvl1pPr algn="ctr">
              <a:defRPr>
                <a:latin typeface="+mj-lt"/>
              </a:defRPr>
            </a:lvl1pPr>
          </a:lstStyle>
          <a:p>
            <a:r>
              <a:rPr lang="en-US" sz="1400" dirty="0">
                <a:solidFill>
                  <a:srgbClr val="000000"/>
                </a:solidFill>
              </a:rPr>
              <a:t>Clique para </a:t>
            </a:r>
            <a:r>
              <a:rPr lang="en-US" sz="1400" dirty="0" err="1">
                <a:solidFill>
                  <a:srgbClr val="000000"/>
                </a:solidFill>
              </a:rPr>
              <a:t>editar</a:t>
            </a:r>
            <a:r>
              <a:rPr lang="en-US" sz="1400" dirty="0">
                <a:solidFill>
                  <a:srgbClr val="000000"/>
                </a:solidFill>
              </a:rPr>
              <a:t> o </a:t>
            </a:r>
            <a:r>
              <a:rPr lang="en-US" sz="1400" dirty="0" err="1">
                <a:solidFill>
                  <a:srgbClr val="000000"/>
                </a:solidFill>
              </a:rPr>
              <a:t>subtítulo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22"/>
          <p:cNvCxnSpPr/>
          <p:nvPr userDrawn="1"/>
        </p:nvCxnSpPr>
        <p:spPr>
          <a:xfrm>
            <a:off x="3851920" y="1707654"/>
            <a:ext cx="1440160" cy="0"/>
          </a:xfrm>
          <a:prstGeom prst="line">
            <a:avLst/>
          </a:prstGeom>
          <a:ln w="31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23"/>
          <p:cNvCxnSpPr/>
          <p:nvPr userDrawn="1"/>
        </p:nvCxnSpPr>
        <p:spPr>
          <a:xfrm>
            <a:off x="1691680" y="3075806"/>
            <a:ext cx="1440160" cy="0"/>
          </a:xfrm>
          <a:prstGeom prst="line">
            <a:avLst/>
          </a:prstGeom>
          <a:ln w="31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24"/>
          <p:cNvCxnSpPr/>
          <p:nvPr userDrawn="1"/>
        </p:nvCxnSpPr>
        <p:spPr>
          <a:xfrm>
            <a:off x="6012160" y="3075806"/>
            <a:ext cx="1440160" cy="0"/>
          </a:xfrm>
          <a:prstGeom prst="line">
            <a:avLst/>
          </a:prstGeom>
          <a:ln w="31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ítulo 26"/>
          <p:cNvSpPr>
            <a:spLocks noGrp="1"/>
          </p:cNvSpPr>
          <p:nvPr>
            <p:ph type="title" hasCustomPrompt="1"/>
          </p:nvPr>
        </p:nvSpPr>
        <p:spPr>
          <a:xfrm>
            <a:off x="971600" y="699542"/>
            <a:ext cx="7200800" cy="1152128"/>
          </a:xfrm>
        </p:spPr>
        <p:txBody>
          <a:bodyPr/>
          <a:lstStyle>
            <a:lvl1pPr algn="ctr">
              <a:defRPr sz="28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32" name="Marcador de Posição do Texto 31"/>
          <p:cNvSpPr>
            <a:spLocks noGrp="1"/>
          </p:cNvSpPr>
          <p:nvPr>
            <p:ph type="body" sz="quarter" idx="10" hasCustomPrompt="1"/>
          </p:nvPr>
        </p:nvSpPr>
        <p:spPr>
          <a:xfrm>
            <a:off x="1691680" y="3075806"/>
            <a:ext cx="1440160" cy="936104"/>
          </a:xfrm>
        </p:spPr>
        <p:txBody>
          <a:bodyPr tIns="72000"/>
          <a:lstStyle>
            <a:lvl1pPr>
              <a:defRPr sz="900" b="0" baseline="0"/>
            </a:lvl1pPr>
          </a:lstStyle>
          <a:p>
            <a:pPr lvl="0"/>
            <a:r>
              <a:rPr lang="pt-PT" dirty="0"/>
              <a:t>CLIQUE PARA EDITAR EVENTO / DATA</a:t>
            </a:r>
          </a:p>
        </p:txBody>
      </p:sp>
      <p:sp>
        <p:nvSpPr>
          <p:cNvPr id="37" name="Marcador de Posição do Texto 31"/>
          <p:cNvSpPr>
            <a:spLocks noGrp="1"/>
          </p:cNvSpPr>
          <p:nvPr>
            <p:ph type="body" sz="quarter" idx="11" hasCustomPrompt="1"/>
          </p:nvPr>
        </p:nvSpPr>
        <p:spPr>
          <a:xfrm>
            <a:off x="5292080" y="3075807"/>
            <a:ext cx="2160240" cy="216024"/>
          </a:xfrm>
        </p:spPr>
        <p:txBody>
          <a:bodyPr tIns="72000" bIns="0">
            <a:noAutofit/>
          </a:bodyPr>
          <a:lstStyle>
            <a:lvl1pPr algn="r">
              <a:defRPr sz="1000" b="1" baseline="0"/>
            </a:lvl1pPr>
          </a:lstStyle>
          <a:p>
            <a:pPr lvl="0"/>
            <a:r>
              <a:rPr lang="pt-PT" dirty="0"/>
              <a:t>Clique para editar autor</a:t>
            </a:r>
          </a:p>
        </p:txBody>
      </p:sp>
      <p:sp>
        <p:nvSpPr>
          <p:cNvPr id="38" name="Marcador de Posição do Texto 31"/>
          <p:cNvSpPr>
            <a:spLocks noGrp="1"/>
          </p:cNvSpPr>
          <p:nvPr>
            <p:ph type="body" sz="quarter" idx="12" hasCustomPrompt="1"/>
          </p:nvPr>
        </p:nvSpPr>
        <p:spPr>
          <a:xfrm>
            <a:off x="5292080" y="3291831"/>
            <a:ext cx="2160240" cy="720079"/>
          </a:xfrm>
        </p:spPr>
        <p:txBody>
          <a:bodyPr tIns="18000"/>
          <a:lstStyle>
            <a:lvl1pPr algn="r">
              <a:defRPr sz="900" b="0" baseline="0"/>
            </a:lvl1pPr>
          </a:lstStyle>
          <a:p>
            <a:pPr lvl="0"/>
            <a:r>
              <a:rPr lang="pt-PT" dirty="0"/>
              <a:t>Clique para editar cargo / afiliação</a:t>
            </a:r>
          </a:p>
        </p:txBody>
      </p:sp>
    </p:spTree>
    <p:extLst>
      <p:ext uri="{BB962C8B-B14F-4D97-AF65-F5344CB8AC3E}">
        <p14:creationId xmlns:p14="http://schemas.microsoft.com/office/powerpoint/2010/main" val="2474896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>
            <a:off x="0" y="1"/>
            <a:ext cx="9144000" cy="2571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3" name="Marcador de Posição do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1" y="1131590"/>
            <a:ext cx="8640959" cy="2880320"/>
          </a:xfrm>
        </p:spPr>
        <p:txBody>
          <a:bodyPr/>
          <a:lstStyle>
            <a:lvl1pPr>
              <a:defRPr/>
            </a:lvl1pPr>
            <a:lvl2pPr marL="0"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588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3" name="Marcador de Posição do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1" y="1131590"/>
            <a:ext cx="8640959" cy="2880320"/>
          </a:xfrm>
        </p:spPr>
        <p:txBody>
          <a:bodyPr/>
          <a:lstStyle>
            <a:lvl1pPr>
              <a:defRPr/>
            </a:lvl1pPr>
            <a:lvl2pPr marL="0"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844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>
            <a:off x="0" y="1"/>
            <a:ext cx="9144000" cy="2571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4644008" y="1131590"/>
            <a:ext cx="4248472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3" name="Marcador de Posição do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1" y="1131590"/>
            <a:ext cx="4248471" cy="2880320"/>
          </a:xfrm>
        </p:spPr>
        <p:txBody>
          <a:bodyPr/>
          <a:lstStyle>
            <a:lvl1pPr>
              <a:defRPr/>
            </a:lvl1pPr>
            <a:lvl2pPr marL="0"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6" name="Marcador de Posição do Texto 3"/>
          <p:cNvSpPr>
            <a:spLocks noGrp="1"/>
          </p:cNvSpPr>
          <p:nvPr>
            <p:ph type="body" sz="quarter" idx="17" hasCustomPrompt="1"/>
          </p:nvPr>
        </p:nvSpPr>
        <p:spPr>
          <a:xfrm>
            <a:off x="4644007" y="4017305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816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4644008" y="1131590"/>
            <a:ext cx="4248472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3" name="Marcador de Posição do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1" y="1131590"/>
            <a:ext cx="4248471" cy="2880320"/>
          </a:xfrm>
        </p:spPr>
        <p:txBody>
          <a:bodyPr/>
          <a:lstStyle>
            <a:lvl1pPr>
              <a:defRPr/>
            </a:lvl1pPr>
            <a:lvl2pPr marL="0"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5" name="Marcador de Posição do Texto 3"/>
          <p:cNvSpPr>
            <a:spLocks noGrp="1"/>
          </p:cNvSpPr>
          <p:nvPr>
            <p:ph type="body" sz="quarter" idx="17" hasCustomPrompt="1"/>
          </p:nvPr>
        </p:nvSpPr>
        <p:spPr>
          <a:xfrm>
            <a:off x="4644007" y="4017305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022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>
            <a:off x="0" y="1"/>
            <a:ext cx="9144000" cy="2571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251524" y="1131590"/>
            <a:ext cx="4248472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6"/>
          </p:nvPr>
        </p:nvSpPr>
        <p:spPr>
          <a:xfrm>
            <a:off x="4644007" y="1127469"/>
            <a:ext cx="4248472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7" name="Marcador de Posição do Texto 3"/>
          <p:cNvSpPr>
            <a:spLocks noGrp="1"/>
          </p:cNvSpPr>
          <p:nvPr>
            <p:ph type="body" sz="quarter" idx="17" hasCustomPrompt="1"/>
          </p:nvPr>
        </p:nvSpPr>
        <p:spPr>
          <a:xfrm>
            <a:off x="4644007" y="4017305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8" name="Marcador de Posição do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251524" y="4023616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8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4205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5"/>
          </p:nvPr>
        </p:nvSpPr>
        <p:spPr>
          <a:xfrm>
            <a:off x="251524" y="1131590"/>
            <a:ext cx="4248472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6"/>
          </p:nvPr>
        </p:nvSpPr>
        <p:spPr>
          <a:xfrm>
            <a:off x="4644007" y="1127469"/>
            <a:ext cx="4248472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6" name="Marcador de Posição do Texto 3"/>
          <p:cNvSpPr>
            <a:spLocks noGrp="1"/>
          </p:cNvSpPr>
          <p:nvPr>
            <p:ph type="body" sz="quarter" idx="17" hasCustomPrompt="1"/>
          </p:nvPr>
        </p:nvSpPr>
        <p:spPr>
          <a:xfrm>
            <a:off x="4644007" y="4017305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7" name="Marcador de Posição do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251524" y="4023616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8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224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>
            <a:off x="0" y="1"/>
            <a:ext cx="9144000" cy="2571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1691680" y="1131590"/>
            <a:ext cx="5760640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6" name="Marcador de Posição do Texto 3"/>
          <p:cNvSpPr>
            <a:spLocks noGrp="1"/>
          </p:cNvSpPr>
          <p:nvPr>
            <p:ph type="body" sz="quarter" idx="17" hasCustomPrompt="1"/>
          </p:nvPr>
        </p:nvSpPr>
        <p:spPr>
          <a:xfrm>
            <a:off x="1691680" y="4017305"/>
            <a:ext cx="5760635" cy="426653"/>
          </a:xfrm>
        </p:spPr>
        <p:txBody>
          <a:bodyPr/>
          <a:lstStyle>
            <a:lvl1pPr algn="ctr"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774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4" y="195486"/>
            <a:ext cx="8640956" cy="864096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1691680" y="1131590"/>
            <a:ext cx="5760640" cy="2879529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16" name="Marcador de Posição do Texto 3"/>
          <p:cNvSpPr>
            <a:spLocks noGrp="1"/>
          </p:cNvSpPr>
          <p:nvPr>
            <p:ph type="body" sz="quarter" idx="17" hasCustomPrompt="1"/>
          </p:nvPr>
        </p:nvSpPr>
        <p:spPr>
          <a:xfrm>
            <a:off x="1691680" y="4017305"/>
            <a:ext cx="5760635" cy="426653"/>
          </a:xfrm>
        </p:spPr>
        <p:txBody>
          <a:bodyPr/>
          <a:lstStyle>
            <a:lvl1pPr algn="ctr"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3108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>
            <a:off x="0" y="1"/>
            <a:ext cx="9144000" cy="2571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ítulo 11"/>
          <p:cNvSpPr>
            <a:spLocks noGrp="1"/>
          </p:cNvSpPr>
          <p:nvPr>
            <p:ph type="title" hasCustomPrompt="1"/>
          </p:nvPr>
        </p:nvSpPr>
        <p:spPr>
          <a:xfrm>
            <a:off x="251521" y="915566"/>
            <a:ext cx="4248471" cy="1656185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7" name="Marcador de Posição do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2643758"/>
            <a:ext cx="4248471" cy="1368152"/>
          </a:xfrm>
        </p:spPr>
        <p:txBody>
          <a:bodyPr/>
          <a:lstStyle>
            <a:lvl1pPr>
              <a:defRPr/>
            </a:lvl1pPr>
            <a:lvl2pPr marL="0"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5"/>
          </p:nvPr>
        </p:nvSpPr>
        <p:spPr>
          <a:xfrm>
            <a:off x="4644007" y="915566"/>
            <a:ext cx="4248469" cy="3095553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9" name="Rectangle 14"/>
          <p:cNvSpPr/>
          <p:nvPr userDrawn="1"/>
        </p:nvSpPr>
        <p:spPr>
          <a:xfrm>
            <a:off x="0" y="4443957"/>
            <a:ext cx="9144000" cy="7040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Marcador de Posição do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4644007" y="4017305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3" name="Marcador de Posição do Número do Diapositivo 2"/>
          <p:cNvSpPr>
            <a:spLocks noGrp="1"/>
          </p:cNvSpPr>
          <p:nvPr>
            <p:ph type="sldNum" sz="quarter" idx="16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0328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1"/>
          <p:cNvSpPr>
            <a:spLocks noGrp="1"/>
          </p:cNvSpPr>
          <p:nvPr>
            <p:ph type="title" hasCustomPrompt="1"/>
          </p:nvPr>
        </p:nvSpPr>
        <p:spPr>
          <a:xfrm>
            <a:off x="251521" y="915566"/>
            <a:ext cx="4248471" cy="1656185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7" name="Marcador de Posição do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2643758"/>
            <a:ext cx="4248471" cy="1368152"/>
          </a:xfrm>
        </p:spPr>
        <p:txBody>
          <a:bodyPr/>
          <a:lstStyle>
            <a:lvl1pPr>
              <a:defRPr/>
            </a:lvl1pPr>
            <a:lvl2pPr marL="0"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5"/>
          </p:nvPr>
        </p:nvSpPr>
        <p:spPr>
          <a:xfrm>
            <a:off x="4644007" y="915566"/>
            <a:ext cx="4248469" cy="3095553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lvl="1"/>
            <a:endParaRPr lang="en-US" dirty="0"/>
          </a:p>
        </p:txBody>
      </p:sp>
      <p:sp>
        <p:nvSpPr>
          <p:cNvPr id="8" name="Rectangle 14"/>
          <p:cNvSpPr/>
          <p:nvPr userDrawn="1"/>
        </p:nvSpPr>
        <p:spPr>
          <a:xfrm>
            <a:off x="0" y="4443957"/>
            <a:ext cx="9144000" cy="7040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Marcador de Posição do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4644007" y="4017305"/>
            <a:ext cx="4248469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11" name="Marcador de Posição do Número do Diapositivo 2"/>
          <p:cNvSpPr>
            <a:spLocks noGrp="1"/>
          </p:cNvSpPr>
          <p:nvPr>
            <p:ph type="sldNum" sz="quarter" idx="16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1320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/>
          <p:nvPr userDrawn="1"/>
        </p:nvSpPr>
        <p:spPr>
          <a:xfrm>
            <a:off x="7206308" y="0"/>
            <a:ext cx="1937692" cy="444395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1" y="915566"/>
            <a:ext cx="4320478" cy="1656183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1"/>
          </p:nvPr>
        </p:nvSpPr>
        <p:spPr>
          <a:xfrm>
            <a:off x="5076054" y="411510"/>
            <a:ext cx="3531898" cy="3600400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</a:lstStyle>
          <a:p>
            <a:pPr lvl="1"/>
            <a:endParaRPr lang="en-US" dirty="0"/>
          </a:p>
        </p:txBody>
      </p:sp>
      <p:sp>
        <p:nvSpPr>
          <p:cNvPr id="21" name="Marcador de Posição do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2643758"/>
            <a:ext cx="4320478" cy="1368152"/>
          </a:xfrm>
        </p:spPr>
        <p:txBody>
          <a:bodyPr/>
          <a:lstStyle>
            <a:lvl1pPr>
              <a:defRPr/>
            </a:lvl1pPr>
            <a:lvl2pPr marL="0">
              <a:defRPr baseline="0"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sp>
        <p:nvSpPr>
          <p:cNvPr id="10" name="Rectangle 14"/>
          <p:cNvSpPr/>
          <p:nvPr userDrawn="1"/>
        </p:nvSpPr>
        <p:spPr>
          <a:xfrm>
            <a:off x="0" y="4443957"/>
            <a:ext cx="9144000" cy="7040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Marcador de Posição do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5076055" y="4017305"/>
            <a:ext cx="3531897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3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22098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/>
          <p:cNvSpPr>
            <a:spLocks noGrp="1"/>
          </p:cNvSpPr>
          <p:nvPr>
            <p:ph type="title" hasCustomPrompt="1"/>
          </p:nvPr>
        </p:nvSpPr>
        <p:spPr>
          <a:xfrm>
            <a:off x="251521" y="915566"/>
            <a:ext cx="4320478" cy="1656183"/>
          </a:xfrm>
        </p:spPr>
        <p:txBody>
          <a:bodyPr anchor="t" anchorCtr="0"/>
          <a:lstStyle>
            <a:lvl1pPr>
              <a:defRPr sz="2800"/>
            </a:lvl1pPr>
          </a:lstStyle>
          <a:p>
            <a:r>
              <a:rPr lang="pt-PT" dirty="0"/>
              <a:t>Clique para editar o título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1"/>
          </p:nvPr>
        </p:nvSpPr>
        <p:spPr>
          <a:xfrm>
            <a:off x="5076054" y="411510"/>
            <a:ext cx="3531898" cy="3600400"/>
          </a:xfrm>
        </p:spPr>
        <p:txBody>
          <a:bodyPr/>
          <a:lstStyle>
            <a:lvl2pPr marL="0">
              <a:spcBef>
                <a:spcPts val="0"/>
              </a:spcBef>
              <a:defRPr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/>
            </a:lvl4pPr>
          </a:lstStyle>
          <a:p>
            <a:pPr lvl="1"/>
            <a:endParaRPr lang="en-US" dirty="0"/>
          </a:p>
        </p:txBody>
      </p:sp>
      <p:sp>
        <p:nvSpPr>
          <p:cNvPr id="20" name="Marcador de Posição do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5076055" y="4017305"/>
            <a:ext cx="3531897" cy="426653"/>
          </a:xfrm>
        </p:spPr>
        <p:txBody>
          <a:bodyPr/>
          <a:lstStyle>
            <a:lvl1pPr>
              <a:defRPr sz="1000" b="0"/>
            </a:lvl1pPr>
            <a:lvl2pPr marL="0">
              <a:spcBef>
                <a:spcPts val="0"/>
              </a:spcBef>
              <a:defRPr sz="900"/>
            </a:lvl2pPr>
            <a:lvl3pPr marL="0" indent="0">
              <a:spcBef>
                <a:spcPts val="0"/>
              </a:spcBef>
              <a:buNone/>
              <a:defRPr sz="900"/>
            </a:lvl3pPr>
            <a:lvl4pPr marL="0">
              <a:defRPr sz="900"/>
            </a:lvl4pPr>
            <a:lvl5pPr marL="0" indent="0">
              <a:spcBef>
                <a:spcPts val="0"/>
              </a:spcBef>
              <a:buNone/>
              <a:defRPr sz="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 sz="800"/>
            </a:lvl7pPr>
          </a:lstStyle>
          <a:p>
            <a:pPr lvl="0"/>
            <a:r>
              <a:rPr lang="pt-PT" dirty="0"/>
              <a:t>Clique para editar a legenda</a:t>
            </a:r>
          </a:p>
        </p:txBody>
      </p:sp>
      <p:sp>
        <p:nvSpPr>
          <p:cNvPr id="21" name="Marcador de Posição do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2643758"/>
            <a:ext cx="4320478" cy="1368152"/>
          </a:xfrm>
        </p:spPr>
        <p:txBody>
          <a:bodyPr/>
          <a:lstStyle>
            <a:lvl1pPr>
              <a:defRPr/>
            </a:lvl1pPr>
            <a:lvl2pPr marL="0">
              <a:defRPr baseline="0"/>
            </a:lvl2pPr>
            <a:lvl3pPr marL="360000" indent="-180000">
              <a:spcBef>
                <a:spcPts val="0"/>
              </a:spcBef>
              <a:defRPr/>
            </a:lvl3pPr>
            <a:lvl4pPr marL="720000" indent="-180000">
              <a:spcBef>
                <a:spcPts val="0"/>
              </a:spcBef>
              <a:buFont typeface="Arial" panose="020B0604020202020204" pitchFamily="34" charset="0"/>
              <a:buChar char="•"/>
              <a:defRPr baseline="0"/>
            </a:lvl4pPr>
            <a:lvl5pPr marL="10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/>
            </a:lvl5pPr>
          </a:lstStyle>
          <a:p>
            <a:pPr lvl="1"/>
            <a:r>
              <a:rPr lang="pt-PT" dirty="0"/>
              <a:t>Clique para editar o corpo de texto</a:t>
            </a:r>
          </a:p>
          <a:p>
            <a:pPr lvl="2"/>
            <a:r>
              <a:rPr lang="pt-PT" dirty="0"/>
              <a:t>Nível 1</a:t>
            </a:r>
          </a:p>
          <a:p>
            <a:pPr lvl="3"/>
            <a:r>
              <a:rPr lang="pt-PT" dirty="0"/>
              <a:t>Nível 2</a:t>
            </a:r>
          </a:p>
          <a:p>
            <a:pPr lvl="4"/>
            <a:r>
              <a:rPr lang="pt-PT" dirty="0"/>
              <a:t>Nível 3</a:t>
            </a:r>
          </a:p>
        </p:txBody>
      </p:sp>
      <p:pic>
        <p:nvPicPr>
          <p:cNvPr id="9" name="Picture 16" descr="ficha-02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3" t="4838" r="3154" b="4988"/>
          <a:stretch/>
        </p:blipFill>
        <p:spPr>
          <a:xfrm>
            <a:off x="144000" y="4660014"/>
            <a:ext cx="446002" cy="288000"/>
          </a:xfrm>
          <a:prstGeom prst="rect">
            <a:avLst/>
          </a:prstGeom>
        </p:spPr>
      </p:pic>
      <p:sp>
        <p:nvSpPr>
          <p:cNvPr id="11" name="Marcador de Posição do Número do Diapositivo 2"/>
          <p:cNvSpPr>
            <a:spLocks noGrp="1"/>
          </p:cNvSpPr>
          <p:nvPr>
            <p:ph type="sldNum" sz="quarter" idx="15"/>
          </p:nvPr>
        </p:nvSpPr>
        <p:spPr>
          <a:xfrm>
            <a:off x="4355975" y="4660014"/>
            <a:ext cx="432048" cy="288001"/>
          </a:xfrm>
        </p:spPr>
        <p:txBody>
          <a:bodyPr/>
          <a:lstStyle>
            <a:lvl1pPr>
              <a:defRPr sz="900" b="0"/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18183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z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323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4"/>
          <p:cNvSpPr/>
          <p:nvPr userDrawn="1"/>
        </p:nvSpPr>
        <p:spPr>
          <a:xfrm>
            <a:off x="0" y="2931790"/>
            <a:ext cx="9144000" cy="22162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91680" y="1851671"/>
            <a:ext cx="5760640" cy="720080"/>
          </a:xfrm>
        </p:spPr>
        <p:txBody>
          <a:bodyPr>
            <a:norm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 sz="1400" dirty="0">
                <a:solidFill>
                  <a:srgbClr val="000000"/>
                </a:solidFill>
              </a:rPr>
              <a:t>Clique para </a:t>
            </a:r>
            <a:r>
              <a:rPr lang="en-US" sz="1400" dirty="0" err="1">
                <a:solidFill>
                  <a:srgbClr val="000000"/>
                </a:solidFill>
              </a:rPr>
              <a:t>editar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autor</a:t>
            </a:r>
            <a:r>
              <a:rPr lang="en-US" sz="1400" dirty="0">
                <a:solidFill>
                  <a:srgbClr val="000000"/>
                </a:solidFill>
              </a:rPr>
              <a:t>, </a:t>
            </a:r>
            <a:r>
              <a:rPr lang="en-US" sz="1400" dirty="0" err="1">
                <a:solidFill>
                  <a:srgbClr val="000000"/>
                </a:solidFill>
              </a:rPr>
              <a:t>contacto,etc</a:t>
            </a:r>
            <a:endParaRPr lang="en-US" sz="1400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22"/>
          <p:cNvCxnSpPr/>
          <p:nvPr userDrawn="1"/>
        </p:nvCxnSpPr>
        <p:spPr>
          <a:xfrm>
            <a:off x="3851920" y="1707654"/>
            <a:ext cx="1440160" cy="0"/>
          </a:xfrm>
          <a:prstGeom prst="line">
            <a:avLst/>
          </a:prstGeom>
          <a:ln w="31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ítulo 26"/>
          <p:cNvSpPr>
            <a:spLocks noGrp="1"/>
          </p:cNvSpPr>
          <p:nvPr>
            <p:ph type="title" hasCustomPrompt="1"/>
          </p:nvPr>
        </p:nvSpPr>
        <p:spPr>
          <a:xfrm>
            <a:off x="971600" y="699542"/>
            <a:ext cx="7200800" cy="1152128"/>
          </a:xfrm>
        </p:spPr>
        <p:txBody>
          <a:bodyPr/>
          <a:lstStyle>
            <a:lvl1pPr algn="ctr"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pt-PT" dirty="0"/>
              <a:t>Obrigada(o)!</a:t>
            </a:r>
          </a:p>
        </p:txBody>
      </p:sp>
    </p:spTree>
    <p:extLst>
      <p:ext uri="{BB962C8B-B14F-4D97-AF65-F5344CB8AC3E}">
        <p14:creationId xmlns:p14="http://schemas.microsoft.com/office/powerpoint/2010/main" val="414998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915566"/>
            <a:ext cx="4320480" cy="16561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PT" dirty="0"/>
              <a:t>Título</a:t>
            </a:r>
            <a:br>
              <a:rPr lang="pt-PT" dirty="0"/>
            </a:br>
            <a:r>
              <a:rPr lang="pt-PT" dirty="0"/>
              <a:t>Aqui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19" y="2643758"/>
            <a:ext cx="4320481" cy="137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dirty="0"/>
              <a:t>Corpo do texto nível 1</a:t>
            </a:r>
          </a:p>
          <a:p>
            <a:pPr lvl="1"/>
            <a:r>
              <a:rPr lang="pt-PT" dirty="0"/>
              <a:t>Corpo de texto nível 2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pt-PT" dirty="0"/>
              <a:t>Corpo de texto nível 3</a:t>
            </a:r>
          </a:p>
          <a:p>
            <a:pPr marL="1600200" marR="0" lvl="3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pt-PT" dirty="0"/>
              <a:t>Corpo de texto nível 4</a:t>
            </a:r>
          </a:p>
          <a:p>
            <a:pPr marL="2286000" marR="0" lvl="4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pt-PT" dirty="0"/>
              <a:t>Corpo de texto nível 5</a:t>
            </a:r>
          </a:p>
          <a:p>
            <a:pPr marL="2743200" marR="0" lvl="5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pt-PT" dirty="0"/>
              <a:t>Corpo de texto nível 6</a:t>
            </a:r>
          </a:p>
          <a:p>
            <a:pPr marL="2286000" marR="0" lvl="4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pt-PT" dirty="0"/>
          </a:p>
          <a:p>
            <a:pPr marL="2286000" marR="0" lvl="4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pt-PT" dirty="0"/>
          </a:p>
          <a:p>
            <a:pPr marL="1600200" marR="0" lvl="3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pt-PT" dirty="0"/>
          </a:p>
          <a:p>
            <a:pPr lvl="2"/>
            <a:endParaRPr lang="pt-PT" dirty="0"/>
          </a:p>
        </p:txBody>
      </p:sp>
      <p:sp>
        <p:nvSpPr>
          <p:cNvPr id="12" name="Marcador de Posição da Data 11"/>
          <p:cNvSpPr>
            <a:spLocks noGrp="1"/>
          </p:cNvSpPr>
          <p:nvPr>
            <p:ph type="dt" sz="half" idx="2"/>
          </p:nvPr>
        </p:nvSpPr>
        <p:spPr>
          <a:xfrm>
            <a:off x="2411760" y="4018607"/>
            <a:ext cx="1440160" cy="713383"/>
          </a:xfrm>
          <a:prstGeom prst="rect">
            <a:avLst/>
          </a:prstGeom>
        </p:spPr>
        <p:txBody>
          <a:bodyPr vert="horz" lIns="91440" tIns="45720" rIns="91440" bIns="45720" rtlCol="0" anchor="ctr" anchorCtr="1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14" name="Marcador de Posição do Número do Diapositivo 13"/>
          <p:cNvSpPr>
            <a:spLocks noGrp="1"/>
          </p:cNvSpPr>
          <p:nvPr>
            <p:ph type="sldNum" sz="quarter" idx="4"/>
          </p:nvPr>
        </p:nvSpPr>
        <p:spPr>
          <a:xfrm>
            <a:off x="3851920" y="4018607"/>
            <a:ext cx="720080" cy="713383"/>
          </a:xfrm>
          <a:prstGeom prst="rect">
            <a:avLst/>
          </a:prstGeom>
        </p:spPr>
        <p:txBody>
          <a:bodyPr vert="horz" lIns="91440" tIns="45720" rIns="91440" bIns="45720" rtlCol="0" anchor="ctr" anchorCtr="1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D6F7E-56EE-4C9D-8093-800C61695320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018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2" r:id="rId2"/>
    <p:sldLayoutId id="2147483673" r:id="rId3"/>
    <p:sldLayoutId id="2147483666" r:id="rId4"/>
    <p:sldLayoutId id="2147483670" r:id="rId5"/>
    <p:sldLayoutId id="2147483665" r:id="rId6"/>
    <p:sldLayoutId id="2147483669" r:id="rId7"/>
    <p:sldLayoutId id="2147483674" r:id="rId8"/>
    <p:sldLayoutId id="2147483675" r:id="rId9"/>
    <p:sldLayoutId id="2147483662" r:id="rId10"/>
    <p:sldLayoutId id="2147483668" r:id="rId11"/>
    <p:sldLayoutId id="2147483660" r:id="rId12"/>
    <p:sldLayoutId id="2147483667" r:id="rId13"/>
    <p:sldLayoutId id="2147483661" r:id="rId14"/>
    <p:sldLayoutId id="2147483671" r:id="rId1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None/>
        <a:tabLst/>
        <a:defRPr sz="16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marR="0" indent="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0" algn="l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None/>
        <a:tabLst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/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864096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pt-PT" b="1" kern="1200" dirty="0">
                <a:latin typeface="+mj-lt"/>
                <a:ea typeface="+mj-ea"/>
                <a:cs typeface="+mj-cs"/>
              </a:rPr>
              <a:t>Modelação e Programação </a:t>
            </a:r>
            <a:br>
              <a:rPr lang="pt-PT" b="1" kern="1200" dirty="0">
                <a:latin typeface="+mj-lt"/>
                <a:ea typeface="+mj-ea"/>
                <a:cs typeface="+mj-cs"/>
              </a:rPr>
            </a:br>
            <a:r>
              <a:rPr lang="pt-PT" b="1" kern="1200">
                <a:latin typeface="+mj-lt"/>
                <a:ea typeface="+mj-ea"/>
                <a:cs typeface="+mj-cs"/>
              </a:rPr>
              <a:t>1º Ano, 2º Semestre </a:t>
            </a:r>
          </a:p>
        </p:txBody>
      </p:sp>
      <p:sp>
        <p:nvSpPr>
          <p:cNvPr id="20" name="Marcador de Posição do Texto 19"/>
          <p:cNvSpPr>
            <a:spLocks noGrp="1"/>
          </p:cNvSpPr>
          <p:nvPr>
            <p:ph type="body" sz="quarter" idx="10"/>
          </p:nvPr>
        </p:nvSpPr>
        <p:spPr>
          <a:xfrm>
            <a:off x="251521" y="1131590"/>
            <a:ext cx="4248471" cy="2880320"/>
          </a:xfrm>
        </p:spPr>
        <p:txBody>
          <a:bodyPr vert="horz" lIns="91440" tIns="45720" rIns="91440" bIns="45720" rtlCol="0">
            <a:normAutofit/>
          </a:bodyPr>
          <a:lstStyle/>
          <a:p>
            <a:pPr lvl="1">
              <a:spcAft>
                <a:spcPts val="600"/>
              </a:spcAft>
            </a:pPr>
            <a:r>
              <a:rPr lang="pt-PT" b="1" baseline="0" dirty="0"/>
              <a:t>Dulce Mota (mdm@</a:t>
            </a:r>
            <a:r>
              <a:rPr lang="pt-PT" b="1" baseline="0" dirty="0">
                <a:effectLst/>
              </a:rPr>
              <a:t>isep.ipp.pt</a:t>
            </a:r>
            <a:r>
              <a:rPr lang="pt-PT" b="1" baseline="0" dirty="0"/>
              <a:t>)</a:t>
            </a:r>
            <a:endParaRPr lang="pt-PT" baseline="0" dirty="0"/>
          </a:p>
          <a:p>
            <a:pPr lvl="1">
              <a:spcAft>
                <a:spcPts val="600"/>
              </a:spcAft>
            </a:pPr>
            <a:r>
              <a:rPr lang="pt-PT" b="1" baseline="0" dirty="0"/>
              <a:t>Catarina Félix (cfo@isep.ipp.pt)</a:t>
            </a:r>
          </a:p>
          <a:p>
            <a:pPr lvl="1">
              <a:spcAft>
                <a:spcPts val="600"/>
              </a:spcAft>
            </a:pPr>
            <a:endParaRPr lang="pt-PT" baseline="0" dirty="0"/>
          </a:p>
        </p:txBody>
      </p:sp>
      <p:sp>
        <p:nvSpPr>
          <p:cNvPr id="4" name="Título 16">
            <a:extLst>
              <a:ext uri="{FF2B5EF4-FFF2-40B4-BE49-F238E27FC236}">
                <a16:creationId xmlns:a16="http://schemas.microsoft.com/office/drawing/2014/main" id="{6E1BDE4E-6351-5BE1-56F9-1BD64CA03DE3}"/>
              </a:ext>
            </a:extLst>
          </p:cNvPr>
          <p:cNvSpPr txBox="1">
            <a:spLocks/>
          </p:cNvSpPr>
          <p:nvPr/>
        </p:nvSpPr>
        <p:spPr>
          <a:xfrm>
            <a:off x="4644007" y="4017305"/>
            <a:ext cx="4248469" cy="426653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20000"/>
              </a:spcBef>
            </a:pPr>
            <a:r>
              <a:rPr lang="pt-PT" sz="1800" kern="1200" baseline="0" dirty="0">
                <a:latin typeface="+mn-lt"/>
                <a:ea typeface="+mn-ea"/>
                <a:cs typeface="+mn-cs"/>
              </a:rPr>
              <a:t>Licenciatura em Engenharia de Sistemas</a:t>
            </a:r>
          </a:p>
        </p:txBody>
      </p:sp>
      <p:graphicFrame>
        <p:nvGraphicFramePr>
          <p:cNvPr id="22" name="Marcador de Posição do Texto 18">
            <a:extLst>
              <a:ext uri="{FF2B5EF4-FFF2-40B4-BE49-F238E27FC236}">
                <a16:creationId xmlns:a16="http://schemas.microsoft.com/office/drawing/2014/main" id="{B3048848-DF61-49A9-D78C-650CF8FD5F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732283"/>
              </p:ext>
            </p:extLst>
          </p:nvPr>
        </p:nvGraphicFramePr>
        <p:xfrm>
          <a:off x="4644008" y="1131590"/>
          <a:ext cx="4248472" cy="2879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27335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5B06F4-E319-E8FA-446F-A0729AFA8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Motivação</a:t>
            </a:r>
            <a:endParaRPr lang="pt-PT" dirty="0"/>
          </a:p>
        </p:txBody>
      </p:sp>
      <p:sp>
        <p:nvSpPr>
          <p:cNvPr id="10" name="Marcador de Posição do Texto 2">
            <a:extLst>
              <a:ext uri="{FF2B5EF4-FFF2-40B4-BE49-F238E27FC236}">
                <a16:creationId xmlns:a16="http://schemas.microsoft.com/office/drawing/2014/main" id="{EEB18D81-138C-A394-113B-58E53B10F9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720000"/>
            <a:ext cx="8496943" cy="3168352"/>
          </a:xfrm>
        </p:spPr>
        <p:txBody>
          <a:bodyPr>
            <a:normAutofit/>
          </a:bodyPr>
          <a:lstStyle/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O que costumamos fazer? 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endParaRPr lang="pt-PT" sz="1900" b="1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2</a:t>
            </a:fld>
            <a:endParaRPr lang="pt-P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692D81-EEEB-9AE0-45E6-6C3F09468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60" y="1190845"/>
            <a:ext cx="3643263" cy="3496975"/>
          </a:xfrm>
          <a:prstGeom prst="rect">
            <a:avLst/>
          </a:prstGeom>
        </p:spPr>
      </p:pic>
      <p:sp>
        <p:nvSpPr>
          <p:cNvPr id="5" name="Marcador de Posição do Texto 2">
            <a:extLst>
              <a:ext uri="{FF2B5EF4-FFF2-40B4-BE49-F238E27FC236}">
                <a16:creationId xmlns:a16="http://schemas.microsoft.com/office/drawing/2014/main" id="{824F163A-238A-0BC1-5F7B-EC29C7AD83AD}"/>
              </a:ext>
            </a:extLst>
          </p:cNvPr>
          <p:cNvSpPr txBox="1">
            <a:spLocks/>
          </p:cNvSpPr>
          <p:nvPr/>
        </p:nvSpPr>
        <p:spPr>
          <a:xfrm>
            <a:off x="5026745" y="2975052"/>
            <a:ext cx="3888431" cy="131303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000000"/>
                </a:solidFill>
                <a:cs typeface="Arial" panose="020B0604020202020204" pitchFamily="34" charset="0"/>
              </a:rPr>
              <a:t>Sabemos que 2 + 3 = 5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/>
              <a:t>Fazemos um print de </a:t>
            </a:r>
            <a:r>
              <a:rPr lang="pt-PT" dirty="0" err="1"/>
              <a:t>add</a:t>
            </a:r>
            <a:r>
              <a:rPr lang="pt-PT" dirty="0"/>
              <a:t>(2,3)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/>
              <a:t>Vemos se dá 5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endParaRPr lang="pt-PT" dirty="0"/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/>
              <a:t>… e o mesmo procedimento para as restantes operações</a:t>
            </a:r>
          </a:p>
        </p:txBody>
      </p:sp>
    </p:spTree>
    <p:extLst>
      <p:ext uri="{BB962C8B-B14F-4D97-AF65-F5344CB8AC3E}">
        <p14:creationId xmlns:p14="http://schemas.microsoft.com/office/powerpoint/2010/main" val="4090983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00DC8-C99A-7DC4-9CFA-EE28AB13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E82F7F9-6EE1-042B-2F59-1D1702303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Introdução</a:t>
            </a:r>
            <a:endParaRPr lang="pt-PT" dirty="0"/>
          </a:p>
        </p:txBody>
      </p:sp>
      <p:sp>
        <p:nvSpPr>
          <p:cNvPr id="10" name="Marcador de Posição do Texto 2">
            <a:extLst>
              <a:ext uri="{FF2B5EF4-FFF2-40B4-BE49-F238E27FC236}">
                <a16:creationId xmlns:a16="http://schemas.microsoft.com/office/drawing/2014/main" id="{05E9673F-FDE6-CCAD-02D0-D1F7B9C2CF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720000"/>
            <a:ext cx="8496943" cy="3168352"/>
          </a:xfrm>
        </p:spPr>
        <p:txBody>
          <a:bodyPr>
            <a:normAutofit/>
          </a:bodyPr>
          <a:lstStyle/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Teste unitário</a:t>
            </a: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pequeno programa que testa automaticamente uma parte do nosso código (normalmente um método), verificando se o resultado está correto.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0927042-19B3-5AC9-31FB-7A63BD64522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149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C3CF4-FE06-3A29-BC5F-ADC010695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15A19DD3-7AE2-A17F-1FB0-82959F919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Setup com </a:t>
            </a:r>
            <a:r>
              <a:rPr lang="pt-PT" u="sng" dirty="0" err="1"/>
              <a:t>IntelliJ</a:t>
            </a:r>
            <a:r>
              <a:rPr lang="pt-PT" u="sng" dirty="0"/>
              <a:t> + </a:t>
            </a:r>
            <a:r>
              <a:rPr lang="pt-PT" u="sng" dirty="0" err="1"/>
              <a:t>Maven</a:t>
            </a:r>
            <a:r>
              <a:rPr lang="pt-PT" u="sng" dirty="0"/>
              <a:t> + </a:t>
            </a:r>
            <a:r>
              <a:rPr lang="pt-PT" u="sng" dirty="0" err="1"/>
              <a:t>JUnit</a:t>
            </a:r>
            <a:endParaRPr lang="pt-PT" dirty="0"/>
          </a:p>
        </p:txBody>
      </p:sp>
      <p:sp>
        <p:nvSpPr>
          <p:cNvPr id="10" name="Marcador de Posição do Texto 2">
            <a:extLst>
              <a:ext uri="{FF2B5EF4-FFF2-40B4-BE49-F238E27FC236}">
                <a16:creationId xmlns:a16="http://schemas.microsoft.com/office/drawing/2014/main" id="{807294DD-4E0E-20A4-6C92-A4432D5F24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720000"/>
            <a:ext cx="8496943" cy="3940014"/>
          </a:xfrm>
        </p:spPr>
        <p:txBody>
          <a:bodyPr>
            <a:normAutofit fontScale="85000" lnSpcReduction="10000"/>
          </a:bodyPr>
          <a:lstStyle/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Na classe onde se encontra o código que queremos testar:</a:t>
            </a:r>
          </a:p>
          <a:p>
            <a:pPr marL="645750" lvl="2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Clique direito &gt;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Generate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… &gt;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Test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…</a:t>
            </a:r>
          </a:p>
          <a:p>
            <a:pPr marL="645750" lvl="2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Selecionar os métodos para os quais pretendemos criar testes</a:t>
            </a:r>
          </a:p>
          <a:p>
            <a:pPr marL="645750" lvl="2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Da primeira vez que introduzimos testes no projeto</a:t>
            </a:r>
          </a:p>
          <a:p>
            <a:pPr marL="1005750" lvl="3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Aparecem erros na classe de teste</a:t>
            </a:r>
          </a:p>
          <a:p>
            <a:pPr marL="1005750" lvl="3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É necessário adicionar dependências ao </a:t>
            </a:r>
            <a:r>
              <a:rPr lang="pt-PT" sz="15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pom</a:t>
            </a: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</a:t>
            </a:r>
          </a:p>
          <a:p>
            <a:pPr marL="1365750" lvl="4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Passar o rato por cima do erro e escolher “</a:t>
            </a:r>
            <a:r>
              <a:rPr lang="pt-PT" sz="1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Add</a:t>
            </a:r>
            <a:r>
              <a:rPr lang="pt-PT" sz="1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‘…’ to </a:t>
            </a:r>
            <a:r>
              <a:rPr lang="pt-PT" sz="1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classpath</a:t>
            </a:r>
            <a:r>
              <a:rPr lang="pt-PT" sz="1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”</a:t>
            </a:r>
          </a:p>
          <a:p>
            <a:pPr marL="1005750" lvl="3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O </a:t>
            </a:r>
            <a:r>
              <a:rPr lang="pt-PT" sz="15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pom</a:t>
            </a:r>
            <a:r>
              <a:rPr lang="pt-PT" sz="15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é atualizado</a:t>
            </a:r>
          </a:p>
          <a:p>
            <a:pPr marL="1365750" lvl="4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É adicionada a secção &lt;</a:t>
            </a:r>
            <a:r>
              <a:rPr lang="pt-PT" sz="1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dependencies</a:t>
            </a:r>
            <a:r>
              <a:rPr lang="pt-PT" sz="1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&gt;…</a:t>
            </a:r>
            <a:r>
              <a:rPr lang="pt-PT" sz="1400" dirty="0">
                <a:solidFill>
                  <a:srgbClr val="000000"/>
                </a:solidFill>
                <a:cs typeface="Arial" panose="020B0604020202020204" pitchFamily="34" charset="0"/>
              </a:rPr>
              <a:t>&lt;/</a:t>
            </a:r>
            <a:r>
              <a:rPr lang="pt-PT" sz="1400" dirty="0" err="1">
                <a:solidFill>
                  <a:srgbClr val="000000"/>
                </a:solidFill>
                <a:cs typeface="Arial" panose="020B0604020202020204" pitchFamily="34" charset="0"/>
              </a:rPr>
              <a:t>dependencies</a:t>
            </a:r>
            <a:r>
              <a:rPr lang="pt-PT" sz="1400" dirty="0">
                <a:solidFill>
                  <a:srgbClr val="000000"/>
                </a:solidFill>
                <a:cs typeface="Arial" panose="020B0604020202020204" pitchFamily="34" charset="0"/>
              </a:rPr>
              <a:t>&gt;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9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Na árvore do projeto:</a:t>
            </a:r>
          </a:p>
          <a:p>
            <a:pPr marL="645750" lvl="2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Código: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src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/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main</a:t>
            </a:r>
            <a:endParaRPr lang="pt-PT" sz="17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645750" lvl="2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Testes: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src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/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test</a:t>
            </a:r>
            <a:endParaRPr lang="pt-PT" sz="17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D7BAFD6-5554-5786-95BD-79018CF3736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4</a:t>
            </a:fld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D6BB9-15F4-3A23-2E19-7C033B91E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472" y="3178732"/>
            <a:ext cx="2656586" cy="19810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067E68-82D6-40CC-FB09-0BA36FE61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614" y="3362098"/>
            <a:ext cx="1338560" cy="161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7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038C2-3A83-4833-90BA-5B9A7752B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1F0C985F-9D7D-DEEA-244D-80D9AB52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Estrutura de um teste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80428E2-789E-51A8-D72A-255698B53A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5</a:t>
            </a:fld>
            <a:endParaRPr lang="pt-P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DDC28-55B9-9BA8-E8BF-B013D7926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102" y="1447643"/>
            <a:ext cx="4267796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18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1D4FD-DFF2-5A5C-57F9-7C693943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199210B-853F-563D-B20A-E660312EA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Exemplo: teste da função </a:t>
            </a:r>
            <a:r>
              <a:rPr lang="pt-PT" u="sng" dirty="0" err="1"/>
              <a:t>add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34CD88F-2C1A-2910-B5F0-9632DF71B9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6</a:t>
            </a:fld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FC260-02B3-A371-5DBD-AF8B2BEDF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4" y="1312716"/>
            <a:ext cx="4594496" cy="2806132"/>
          </a:xfrm>
          <a:prstGeom prst="rect">
            <a:avLst/>
          </a:prstGeom>
        </p:spPr>
      </p:pic>
      <p:sp>
        <p:nvSpPr>
          <p:cNvPr id="6" name="Marcador de Posição do Texto 2">
            <a:extLst>
              <a:ext uri="{FF2B5EF4-FFF2-40B4-BE49-F238E27FC236}">
                <a16:creationId xmlns:a16="http://schemas.microsoft.com/office/drawing/2014/main" id="{EE94C2CE-B17B-6B0E-6568-5BCA07B5030A}"/>
              </a:ext>
            </a:extLst>
          </p:cNvPr>
          <p:cNvSpPr txBox="1">
            <a:spLocks/>
          </p:cNvSpPr>
          <p:nvPr/>
        </p:nvSpPr>
        <p:spPr>
          <a:xfrm>
            <a:off x="5026745" y="2075052"/>
            <a:ext cx="3888431" cy="2724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000000"/>
                </a:solidFill>
                <a:cs typeface="Arial" panose="020B0604020202020204" pitchFamily="34" charset="0"/>
              </a:rPr>
              <a:t>O primeiro número é 2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000000"/>
                </a:solidFill>
                <a:cs typeface="Arial" panose="020B0604020202020204" pitchFamily="34" charset="0"/>
              </a:rPr>
              <a:t>O segundo número é 1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000000"/>
                </a:solidFill>
                <a:cs typeface="Arial" panose="020B0604020202020204" pitchFamily="34" charset="0"/>
              </a:rPr>
              <a:t>Sabemos que 2 + 1 = 3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000000"/>
                </a:solidFill>
                <a:cs typeface="Arial" panose="020B0604020202020204" pitchFamily="34" charset="0"/>
              </a:rPr>
              <a:t>Obtemos o resultado de </a:t>
            </a:r>
            <a:r>
              <a:rPr lang="pt-PT" dirty="0" err="1">
                <a:solidFill>
                  <a:srgbClr val="000000"/>
                </a:solidFill>
                <a:cs typeface="Arial" panose="020B0604020202020204" pitchFamily="34" charset="0"/>
              </a:rPr>
              <a:t>add</a:t>
            </a:r>
            <a:r>
              <a:rPr lang="pt-PT" dirty="0">
                <a:solidFill>
                  <a:srgbClr val="000000"/>
                </a:solidFill>
                <a:cs typeface="Arial" panose="020B0604020202020204" pitchFamily="34" charset="0"/>
              </a:rPr>
              <a:t>(1, 2)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000000"/>
                </a:solidFill>
                <a:cs typeface="Arial" panose="020B0604020202020204" pitchFamily="34" charset="0"/>
              </a:rPr>
              <a:t>Verificamos se o valor esperado é igual ao valor obtido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27694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C828B-5835-3A1F-1C8D-980EAE8C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B72E3D1-F30F-735C-3A63-F56BB538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Exemplo: teste da função </a:t>
            </a:r>
            <a:r>
              <a:rPr lang="pt-PT" u="sng" dirty="0" err="1"/>
              <a:t>add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E0FF79F-43CA-AFC8-780C-7EC5884B1E8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7</a:t>
            </a:fld>
            <a:endParaRPr lang="pt-P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82DDB9-7347-9CE0-E037-33F2943F2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9" y="981990"/>
            <a:ext cx="3705742" cy="1733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07F915-9527-11B0-B193-D1857C1B1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55" y="3108327"/>
            <a:ext cx="6344535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13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53184-7E6B-B0D3-6433-F146D937F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3341B771-9247-176E-4B27-ABFF19E55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Exemplo: execução de todos os testes de uma classe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D73A863-FCE0-F3C8-CB1B-F532DEA97A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8</a:t>
            </a:fld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3B03DE-1E23-7DA0-9A79-BFEBCB312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4" y="915566"/>
            <a:ext cx="3200847" cy="1552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FBC240-B414-EB73-1D86-380EA9C45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4" y="2773801"/>
            <a:ext cx="6192114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9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7BE22-D645-EE79-EF04-3F7177DF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62134C5-D8EF-77AE-5E1C-B9B90FD9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Exemplo: quando um teste falha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1ACBC1A-7A3F-AA91-DDB0-6FB5D4B8B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9</a:t>
            </a:fld>
            <a:endParaRPr lang="pt-P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BD75C6-4C8D-84CA-3B4B-5F53BED2A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25" y="915566"/>
            <a:ext cx="5040555" cy="2165116"/>
          </a:xfrm>
          <a:prstGeom prst="rect">
            <a:avLst/>
          </a:prstGeom>
        </p:spPr>
      </p:pic>
      <p:sp>
        <p:nvSpPr>
          <p:cNvPr id="6" name="Marcador de Posição do Texto 2">
            <a:extLst>
              <a:ext uri="{FF2B5EF4-FFF2-40B4-BE49-F238E27FC236}">
                <a16:creationId xmlns:a16="http://schemas.microsoft.com/office/drawing/2014/main" id="{F1C4286B-5F9D-0231-DE9F-CDFB641DD908}"/>
              </a:ext>
            </a:extLst>
          </p:cNvPr>
          <p:cNvSpPr txBox="1">
            <a:spLocks/>
          </p:cNvSpPr>
          <p:nvPr/>
        </p:nvSpPr>
        <p:spPr>
          <a:xfrm>
            <a:off x="3293492" y="3080682"/>
            <a:ext cx="5567312" cy="2724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 algn="just"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000000"/>
                </a:solidFill>
                <a:cs typeface="Arial" panose="020B0604020202020204" pitchFamily="34" charset="0"/>
              </a:rPr>
              <a:t>Pode ser um erro:</a:t>
            </a:r>
          </a:p>
          <a:p>
            <a:pPr marL="645750" lvl="2" indent="-285750" algn="just"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000000"/>
                </a:solidFill>
                <a:cs typeface="Arial" panose="020B0604020202020204" pitchFamily="34" charset="0"/>
              </a:rPr>
              <a:t>No método</a:t>
            </a:r>
          </a:p>
          <a:p>
            <a:pPr marL="645750" lvl="2" indent="-285750" algn="just"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000000"/>
                </a:solidFill>
                <a:cs typeface="Arial" panose="020B0604020202020204" pitchFamily="34" charset="0"/>
              </a:rPr>
              <a:t>… mas também pode ser no teste</a:t>
            </a:r>
          </a:p>
          <a:p>
            <a:pPr marL="285750" lvl="1" indent="-285750" algn="just"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000000"/>
                </a:solidFill>
                <a:cs typeface="Arial" panose="020B0604020202020204" pitchFamily="34" charset="0"/>
              </a:rPr>
              <a:t>A mensagem à direita mostra o valor esperado e o obtido</a:t>
            </a:r>
          </a:p>
          <a:p>
            <a:pPr marL="645750" lvl="2" indent="-285750" algn="just"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dirty="0">
                <a:solidFill>
                  <a:srgbClr val="000000"/>
                </a:solidFill>
                <a:cs typeface="Arial" panose="020B0604020202020204" pitchFamily="34" charset="0"/>
              </a:rPr>
              <a:t>Para ajudar na tarefa de descobrir o erro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21170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FC7FE-1042-9708-3498-21DE3272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B6B5A31-D71A-A480-4F33-D735CBB4C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4" y="195486"/>
            <a:ext cx="8640956" cy="576064"/>
          </a:xfrm>
        </p:spPr>
        <p:txBody>
          <a:bodyPr/>
          <a:lstStyle/>
          <a:p>
            <a:r>
              <a:rPr lang="pt-PT" u="sng" dirty="0"/>
              <a:t>Como verificar resultados com um teste unitário</a:t>
            </a:r>
            <a:endParaRPr lang="pt-PT" dirty="0"/>
          </a:p>
        </p:txBody>
      </p:sp>
      <p:sp>
        <p:nvSpPr>
          <p:cNvPr id="10" name="Marcador de Posição do Texto 2">
            <a:extLst>
              <a:ext uri="{FF2B5EF4-FFF2-40B4-BE49-F238E27FC236}">
                <a16:creationId xmlns:a16="http://schemas.microsoft.com/office/drawing/2014/main" id="{BD825BB6-1EA8-257B-44F5-292AB500A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720000"/>
            <a:ext cx="8496943" cy="3940014"/>
          </a:xfrm>
        </p:spPr>
        <p:txBody>
          <a:bodyPr>
            <a:normAutofit/>
          </a:bodyPr>
          <a:lstStyle/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assertEquals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/ </a:t>
            </a:r>
            <a:r>
              <a:rPr lang="pt-PT" sz="17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assertNotEquals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verifica se são iguais / diferentes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assertTrue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/ </a:t>
            </a:r>
            <a:r>
              <a:rPr lang="pt-PT" sz="17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assertFalse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verifica se é verdadeiro / falso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assertNull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/ </a:t>
            </a:r>
            <a:r>
              <a:rPr lang="pt-PT" sz="17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assertNotNull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verifica se é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null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/ não </a:t>
            </a:r>
            <a:r>
              <a:rPr lang="pt-PT" sz="17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null</a:t>
            </a:r>
            <a:endParaRPr lang="pt-PT" sz="17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assertThrows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verifica se é lançada uma exceção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assertTimeout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verifica se o método demora muito tempo a executar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b="1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assertAll</a:t>
            </a: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 útil para agrupar verificações</a:t>
            </a:r>
          </a:p>
          <a:p>
            <a:pPr marL="285750" lvl="1" indent="-285750" algn="just">
              <a:lnSpc>
                <a:spcPct val="130000"/>
              </a:lnSpc>
              <a:spcBef>
                <a:spcPts val="600"/>
              </a:spcBef>
              <a:buClr>
                <a:srgbClr val="37441C"/>
              </a:buClr>
              <a:buFont typeface="Wingdings" panose="05000000000000000000" pitchFamily="2" charset="2"/>
              <a:buChar char="§"/>
            </a:pPr>
            <a:r>
              <a:rPr lang="pt-PT" sz="17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D97153F-5063-764D-470B-476F18D9DB5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2384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101E-8859-93D2-ED5B-78600429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3D11BDDA-511E-E6F1-BFBD-27335412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Exercício – Calculadora (continuação, mesmos grupos)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806898-F98E-87DB-EDEF-41E1BD54BF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5431" y="1635646"/>
            <a:ext cx="4502591" cy="3024368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Criar novo </a:t>
            </a:r>
            <a:r>
              <a:rPr lang="pt-PT" b="0" dirty="0" err="1"/>
              <a:t>branch</a:t>
            </a:r>
            <a:r>
              <a:rPr lang="pt-PT" b="0" dirty="0"/>
              <a:t> chamado </a:t>
            </a:r>
            <a:r>
              <a:rPr lang="pt-PT" b="0" i="1" dirty="0" err="1"/>
              <a:t>unitTests</a:t>
            </a:r>
            <a:endParaRPr lang="pt-PT" b="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Criar testes para as funções </a:t>
            </a:r>
            <a:r>
              <a:rPr lang="pt-PT" b="0" dirty="0" err="1"/>
              <a:t>add</a:t>
            </a:r>
            <a:r>
              <a:rPr lang="pt-PT" b="0" dirty="0"/>
              <a:t> e </a:t>
            </a:r>
            <a:r>
              <a:rPr lang="pt-PT" b="0" dirty="0" err="1"/>
              <a:t>subtract</a:t>
            </a:r>
            <a:r>
              <a:rPr lang="pt-PT" b="0" dirty="0"/>
              <a:t>:</a:t>
            </a:r>
          </a:p>
          <a:p>
            <a:pPr marL="645750" lvl="2" indent="-285750">
              <a:buFont typeface="Arial" panose="020B0604020202020204" pitchFamily="34" charset="0"/>
              <a:buChar char="•"/>
            </a:pPr>
            <a:r>
              <a:rPr lang="pt-PT" sz="1200" dirty="0"/>
              <a:t>Clique direito na classe </a:t>
            </a:r>
            <a:r>
              <a:rPr lang="pt-PT" sz="1200" dirty="0" err="1"/>
              <a:t>Main</a:t>
            </a:r>
            <a:r>
              <a:rPr lang="pt-PT" sz="1200" dirty="0"/>
              <a:t> &gt; </a:t>
            </a:r>
            <a:r>
              <a:rPr lang="pt-PT" sz="1200" dirty="0" err="1"/>
              <a:t>Generate</a:t>
            </a:r>
            <a:r>
              <a:rPr lang="pt-PT" sz="1200" dirty="0"/>
              <a:t>… &gt; </a:t>
            </a:r>
            <a:r>
              <a:rPr lang="pt-PT" sz="1200" dirty="0" err="1"/>
              <a:t>Test</a:t>
            </a:r>
            <a:r>
              <a:rPr lang="pt-PT" sz="1200" dirty="0"/>
              <a:t>…</a:t>
            </a:r>
          </a:p>
          <a:p>
            <a:pPr marL="645750" lvl="2" indent="-285750">
              <a:buFont typeface="Arial" panose="020B0604020202020204" pitchFamily="34" charset="0"/>
              <a:buChar char="•"/>
            </a:pPr>
            <a:r>
              <a:rPr lang="pt-PT" sz="1200" dirty="0"/>
              <a:t>Selecionar os métodos e clicar em OK</a:t>
            </a:r>
          </a:p>
          <a:p>
            <a:pPr marL="645750" lvl="2" indent="-2857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645750" lvl="2" indent="-2857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645750" lvl="2" indent="-2857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645750" lvl="2" indent="-2857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645750" lvl="2" indent="-2857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645750" lvl="2" indent="-2857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645750" lvl="2" indent="-2857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645750" lvl="2" indent="-2857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645750" lvl="2" indent="-2857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645750" lvl="2" indent="-2857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645750" lvl="2" indent="-2857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645750" lvl="2" indent="-285750">
              <a:buFont typeface="Arial" panose="020B0604020202020204" pitchFamily="34" charset="0"/>
              <a:buChar char="•"/>
            </a:pPr>
            <a:endParaRPr lang="pt-PT" sz="1200" dirty="0"/>
          </a:p>
          <a:p>
            <a:pPr marL="645750" lvl="2" indent="-285750">
              <a:buFont typeface="Arial" panose="020B0604020202020204" pitchFamily="34" charset="0"/>
              <a:buChar char="•"/>
            </a:pPr>
            <a:r>
              <a:rPr lang="pt-PT" sz="1200" dirty="0"/>
              <a:t>Adicionar o ficheiro criado ao </a:t>
            </a:r>
            <a:r>
              <a:rPr lang="pt-PT" sz="1200" dirty="0" err="1"/>
              <a:t>git</a:t>
            </a:r>
            <a:endParaRPr lang="pt-PT" sz="1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1E394-3144-9F19-7C88-6179D8BE16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1131590"/>
            <a:ext cx="4248471" cy="432048"/>
          </a:xfrm>
        </p:spPr>
        <p:txBody>
          <a:bodyPr/>
          <a:lstStyle/>
          <a:p>
            <a:r>
              <a:rPr lang="pt-PT" dirty="0"/>
              <a:t>Aluno A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948BC18-3D9A-1AEB-5C76-3378E5334F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11</a:t>
            </a:fld>
            <a:endParaRPr lang="pt-PT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13E8B7E-2E4D-E417-09B2-2FB2CFD96253}"/>
              </a:ext>
            </a:extLst>
          </p:cNvPr>
          <p:cNvSpPr txBox="1">
            <a:spLocks/>
          </p:cNvSpPr>
          <p:nvPr/>
        </p:nvSpPr>
        <p:spPr>
          <a:xfrm>
            <a:off x="4571999" y="1131590"/>
            <a:ext cx="4248471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Aluno 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71A565-1851-90DC-858B-ECC7E2D6F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726" y="2499742"/>
            <a:ext cx="1403458" cy="171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54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541-63B4-7C2C-EB3E-BAF5B8E6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43E4913-AC61-E320-03C8-E1BFB9B8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Exercício – Calculadora (em grupos de 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9D552D-8FE5-63A7-50CD-B00B047A757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5432" y="1635646"/>
            <a:ext cx="4248472" cy="28795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Resolver os erros das dependências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492C6-5AD3-58F5-AE50-168401907D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1131590"/>
            <a:ext cx="4248471" cy="432048"/>
          </a:xfrm>
        </p:spPr>
        <p:txBody>
          <a:bodyPr/>
          <a:lstStyle/>
          <a:p>
            <a:r>
              <a:rPr lang="pt-PT" dirty="0"/>
              <a:t>Aluno A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695F6A2-258A-078E-0ECF-1F47E72E2FF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12</a:t>
            </a:fld>
            <a:endParaRPr lang="pt-PT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CBB440D-2DB8-88F5-4A68-60D6B7358F59}"/>
              </a:ext>
            </a:extLst>
          </p:cNvPr>
          <p:cNvSpPr txBox="1">
            <a:spLocks/>
          </p:cNvSpPr>
          <p:nvPr/>
        </p:nvSpPr>
        <p:spPr>
          <a:xfrm>
            <a:off x="4571999" y="1131590"/>
            <a:ext cx="4248471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Aluno B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9DD81F98-2E17-B49A-D647-F5D49C59CA4D}"/>
              </a:ext>
            </a:extLst>
          </p:cNvPr>
          <p:cNvSpPr txBox="1">
            <a:spLocks/>
          </p:cNvSpPr>
          <p:nvPr/>
        </p:nvSpPr>
        <p:spPr>
          <a:xfrm>
            <a:off x="4533904" y="1635645"/>
            <a:ext cx="4248472" cy="287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5F6FE6-BC6C-77C0-26F7-283904F35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96" y="1995686"/>
            <a:ext cx="4005543" cy="9680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EA0DE6-3C6A-4E00-B542-79EBF5FE5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97" y="3173183"/>
            <a:ext cx="3999984" cy="968007"/>
          </a:xfrm>
          <a:prstGeom prst="rect">
            <a:avLst/>
          </a:prstGeom>
        </p:spPr>
      </p:pic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086088A2-4567-9EEB-B5DB-A92A94B6C639}"/>
              </a:ext>
            </a:extLst>
          </p:cNvPr>
          <p:cNvSpPr txBox="1">
            <a:spLocks/>
          </p:cNvSpPr>
          <p:nvPr/>
        </p:nvSpPr>
        <p:spPr>
          <a:xfrm>
            <a:off x="4686304" y="1788045"/>
            <a:ext cx="4248472" cy="287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(espera)</a:t>
            </a:r>
          </a:p>
        </p:txBody>
      </p:sp>
    </p:spTree>
    <p:extLst>
      <p:ext uri="{BB962C8B-B14F-4D97-AF65-F5344CB8AC3E}">
        <p14:creationId xmlns:p14="http://schemas.microsoft.com/office/powerpoint/2010/main" val="1410830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370B1-6F70-F12F-53AA-A37A4577C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C006748-2A61-86CA-EEEB-F5C5931B2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Exercício – Calculadora (em grupos de 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C3FBAF-FAEF-84D2-39EF-A580845CE76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5432" y="1635646"/>
            <a:ext cx="4248472" cy="28795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Verificar o </a:t>
            </a:r>
            <a:r>
              <a:rPr lang="pt-PT" b="0" dirty="0" err="1"/>
              <a:t>pom</a:t>
            </a: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C958C-2A76-52BF-D9D1-BFCCB3A9E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1131590"/>
            <a:ext cx="4248471" cy="432048"/>
          </a:xfrm>
        </p:spPr>
        <p:txBody>
          <a:bodyPr/>
          <a:lstStyle/>
          <a:p>
            <a:r>
              <a:rPr lang="pt-PT" dirty="0"/>
              <a:t>Aluno A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ED4ED34-93C2-66DA-E952-4D71D4F160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13</a:t>
            </a:fld>
            <a:endParaRPr lang="pt-PT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C27835-39BF-A40F-7EDC-7CAA5425BB91}"/>
              </a:ext>
            </a:extLst>
          </p:cNvPr>
          <p:cNvSpPr txBox="1">
            <a:spLocks/>
          </p:cNvSpPr>
          <p:nvPr/>
        </p:nvSpPr>
        <p:spPr>
          <a:xfrm>
            <a:off x="4571999" y="1131590"/>
            <a:ext cx="4248471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Aluno B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329FC81-7678-6A92-B03B-4CB4A1564A3D}"/>
              </a:ext>
            </a:extLst>
          </p:cNvPr>
          <p:cNvSpPr txBox="1">
            <a:spLocks/>
          </p:cNvSpPr>
          <p:nvPr/>
        </p:nvSpPr>
        <p:spPr>
          <a:xfrm>
            <a:off x="4533904" y="1635645"/>
            <a:ext cx="4248472" cy="287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A21A2B2-25F5-801C-C29B-35797A380CFD}"/>
              </a:ext>
            </a:extLst>
          </p:cNvPr>
          <p:cNvSpPr txBox="1">
            <a:spLocks/>
          </p:cNvSpPr>
          <p:nvPr/>
        </p:nvSpPr>
        <p:spPr>
          <a:xfrm>
            <a:off x="4686304" y="1788045"/>
            <a:ext cx="4248472" cy="287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(espera)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F66996-9E87-96C8-EFE9-7FEC93436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50" y="1997499"/>
            <a:ext cx="3688554" cy="297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72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DEE3-1DEE-B427-170B-B4D5AFD4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BD0CE4D0-6854-5F84-B184-343FB2A72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Exercício – Calculadora (em grupos de 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9CF608-59D0-D569-AF09-DD7140C4506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5432" y="1635646"/>
            <a:ext cx="4248472" cy="2879529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b="0" dirty="0"/>
              <a:t>Implementar testes para adição e subtração:</a:t>
            </a:r>
          </a:p>
          <a:p>
            <a:pPr marL="180000" lvl="2" indent="0">
              <a:buNone/>
            </a:pPr>
            <a:r>
              <a:rPr lang="pt-PT" sz="1100" b="0" dirty="0">
                <a:latin typeface="Consolas" panose="020B0609020204030204" pitchFamily="49" charset="0"/>
              </a:rPr>
              <a:t>@Test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 err="1">
                <a:latin typeface="Consolas" panose="020B0609020204030204" pitchFamily="49" charset="0"/>
              </a:rPr>
              <a:t>void</a:t>
            </a:r>
            <a:r>
              <a:rPr lang="pt-PT" sz="1100" b="0" dirty="0">
                <a:latin typeface="Consolas" panose="020B0609020204030204" pitchFamily="49" charset="0"/>
              </a:rPr>
              <a:t> </a:t>
            </a:r>
            <a:r>
              <a:rPr lang="pt-PT" sz="1100" b="0" dirty="0" err="1">
                <a:latin typeface="Consolas" panose="020B0609020204030204" pitchFamily="49" charset="0"/>
              </a:rPr>
              <a:t>add</a:t>
            </a:r>
            <a:r>
              <a:rPr lang="pt-PT" sz="1100" b="0" dirty="0">
                <a:latin typeface="Consolas" panose="020B0609020204030204" pitchFamily="49" charset="0"/>
              </a:rPr>
              <a:t>() {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    </a:t>
            </a:r>
            <a:r>
              <a:rPr lang="pt-PT" sz="1100" b="0" dirty="0" err="1">
                <a:latin typeface="Consolas" panose="020B0609020204030204" pitchFamily="49" charset="0"/>
              </a:rPr>
              <a:t>int</a:t>
            </a:r>
            <a:r>
              <a:rPr lang="pt-PT" sz="1100" b="0" dirty="0">
                <a:latin typeface="Consolas" panose="020B0609020204030204" pitchFamily="49" charset="0"/>
              </a:rPr>
              <a:t> n1 = 2;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    </a:t>
            </a:r>
            <a:r>
              <a:rPr lang="pt-PT" sz="1100" b="0" dirty="0" err="1">
                <a:latin typeface="Consolas" panose="020B0609020204030204" pitchFamily="49" charset="0"/>
              </a:rPr>
              <a:t>int</a:t>
            </a:r>
            <a:r>
              <a:rPr lang="pt-PT" sz="1100" b="0" dirty="0">
                <a:latin typeface="Consolas" panose="020B0609020204030204" pitchFamily="49" charset="0"/>
              </a:rPr>
              <a:t> n2 = 1;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    </a:t>
            </a:r>
            <a:r>
              <a:rPr lang="pt-PT" sz="1100" b="0" dirty="0" err="1">
                <a:latin typeface="Consolas" panose="020B0609020204030204" pitchFamily="49" charset="0"/>
              </a:rPr>
              <a:t>int</a:t>
            </a:r>
            <a:r>
              <a:rPr lang="pt-PT" sz="1100" b="0" dirty="0">
                <a:latin typeface="Consolas" panose="020B0609020204030204" pitchFamily="49" charset="0"/>
              </a:rPr>
              <a:t> esperado = 3;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    </a:t>
            </a:r>
            <a:r>
              <a:rPr lang="pt-PT" sz="1100" b="0" dirty="0" err="1">
                <a:latin typeface="Consolas" panose="020B0609020204030204" pitchFamily="49" charset="0"/>
              </a:rPr>
              <a:t>int</a:t>
            </a:r>
            <a:r>
              <a:rPr lang="pt-PT" sz="1100" b="0" dirty="0">
                <a:latin typeface="Consolas" panose="020B0609020204030204" pitchFamily="49" charset="0"/>
              </a:rPr>
              <a:t> obtido = </a:t>
            </a:r>
            <a:r>
              <a:rPr lang="pt-PT" sz="1100" b="0" dirty="0" err="1">
                <a:latin typeface="Consolas" panose="020B0609020204030204" pitchFamily="49" charset="0"/>
              </a:rPr>
              <a:t>Main.</a:t>
            </a:r>
            <a:r>
              <a:rPr lang="pt-PT" sz="1100" b="0" i="1" dirty="0" err="1">
                <a:latin typeface="Consolas" panose="020B0609020204030204" pitchFamily="49" charset="0"/>
              </a:rPr>
              <a:t>add</a:t>
            </a:r>
            <a:r>
              <a:rPr lang="pt-PT" sz="1100" b="0" dirty="0">
                <a:latin typeface="Consolas" panose="020B0609020204030204" pitchFamily="49" charset="0"/>
              </a:rPr>
              <a:t>(n1, n2);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    </a:t>
            </a:r>
            <a:r>
              <a:rPr lang="pt-PT" sz="1100" b="0" i="1" dirty="0" err="1">
                <a:latin typeface="Consolas" panose="020B0609020204030204" pitchFamily="49" charset="0"/>
              </a:rPr>
              <a:t>assertEquals</a:t>
            </a:r>
            <a:r>
              <a:rPr lang="pt-PT" sz="1100" b="0" dirty="0">
                <a:latin typeface="Consolas" panose="020B0609020204030204" pitchFamily="49" charset="0"/>
              </a:rPr>
              <a:t>(esperado, obtido);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}</a:t>
            </a:r>
            <a:br>
              <a:rPr lang="pt-PT" sz="1100" b="0" dirty="0">
                <a:latin typeface="Consolas" panose="020B0609020204030204" pitchFamily="49" charset="0"/>
              </a:rPr>
            </a:b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@Test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 err="1">
                <a:latin typeface="Consolas" panose="020B0609020204030204" pitchFamily="49" charset="0"/>
              </a:rPr>
              <a:t>void</a:t>
            </a:r>
            <a:r>
              <a:rPr lang="pt-PT" sz="1100" b="0" dirty="0">
                <a:latin typeface="Consolas" panose="020B0609020204030204" pitchFamily="49" charset="0"/>
              </a:rPr>
              <a:t> </a:t>
            </a:r>
            <a:r>
              <a:rPr lang="pt-PT" sz="1100" b="0" dirty="0" err="1">
                <a:latin typeface="Consolas" panose="020B0609020204030204" pitchFamily="49" charset="0"/>
              </a:rPr>
              <a:t>subtract</a:t>
            </a:r>
            <a:r>
              <a:rPr lang="pt-PT" sz="1100" b="0" dirty="0">
                <a:latin typeface="Consolas" panose="020B0609020204030204" pitchFamily="49" charset="0"/>
              </a:rPr>
              <a:t>() {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    </a:t>
            </a:r>
            <a:r>
              <a:rPr lang="pt-PT" sz="1100" b="0" dirty="0" err="1">
                <a:latin typeface="Consolas" panose="020B0609020204030204" pitchFamily="49" charset="0"/>
              </a:rPr>
              <a:t>int</a:t>
            </a:r>
            <a:r>
              <a:rPr lang="pt-PT" sz="1100" b="0" dirty="0">
                <a:latin typeface="Consolas" panose="020B0609020204030204" pitchFamily="49" charset="0"/>
              </a:rPr>
              <a:t> n1 = 2;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    </a:t>
            </a:r>
            <a:r>
              <a:rPr lang="pt-PT" sz="1100" b="0" dirty="0" err="1">
                <a:latin typeface="Consolas" panose="020B0609020204030204" pitchFamily="49" charset="0"/>
              </a:rPr>
              <a:t>int</a:t>
            </a:r>
            <a:r>
              <a:rPr lang="pt-PT" sz="1100" b="0" dirty="0">
                <a:latin typeface="Consolas" panose="020B0609020204030204" pitchFamily="49" charset="0"/>
              </a:rPr>
              <a:t> n2 = 1;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    </a:t>
            </a:r>
            <a:r>
              <a:rPr lang="pt-PT" sz="1100" b="0" dirty="0" err="1">
                <a:latin typeface="Consolas" panose="020B0609020204030204" pitchFamily="49" charset="0"/>
              </a:rPr>
              <a:t>int</a:t>
            </a:r>
            <a:r>
              <a:rPr lang="pt-PT" sz="1100" b="0" dirty="0">
                <a:latin typeface="Consolas" panose="020B0609020204030204" pitchFamily="49" charset="0"/>
              </a:rPr>
              <a:t> esperado = 1;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    </a:t>
            </a:r>
            <a:r>
              <a:rPr lang="pt-PT" sz="1100" b="0" dirty="0" err="1">
                <a:latin typeface="Consolas" panose="020B0609020204030204" pitchFamily="49" charset="0"/>
              </a:rPr>
              <a:t>int</a:t>
            </a:r>
            <a:r>
              <a:rPr lang="pt-PT" sz="1100" b="0" dirty="0">
                <a:latin typeface="Consolas" panose="020B0609020204030204" pitchFamily="49" charset="0"/>
              </a:rPr>
              <a:t> obtido = </a:t>
            </a:r>
            <a:r>
              <a:rPr lang="pt-PT" sz="1100" b="0" dirty="0" err="1">
                <a:latin typeface="Consolas" panose="020B0609020204030204" pitchFamily="49" charset="0"/>
              </a:rPr>
              <a:t>Main.</a:t>
            </a:r>
            <a:r>
              <a:rPr lang="pt-PT" sz="1100" b="0" i="1" dirty="0" err="1">
                <a:latin typeface="Consolas" panose="020B0609020204030204" pitchFamily="49" charset="0"/>
              </a:rPr>
              <a:t>subtract</a:t>
            </a:r>
            <a:r>
              <a:rPr lang="pt-PT" sz="1100" b="0" dirty="0">
                <a:latin typeface="Consolas" panose="020B0609020204030204" pitchFamily="49" charset="0"/>
              </a:rPr>
              <a:t>(n1, n2);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    </a:t>
            </a:r>
            <a:r>
              <a:rPr lang="pt-PT" sz="1100" b="0" i="1" dirty="0" err="1">
                <a:latin typeface="Consolas" panose="020B0609020204030204" pitchFamily="49" charset="0"/>
              </a:rPr>
              <a:t>assertEquals</a:t>
            </a:r>
            <a:r>
              <a:rPr lang="pt-PT" sz="1100" b="0" dirty="0">
                <a:latin typeface="Consolas" panose="020B0609020204030204" pitchFamily="49" charset="0"/>
              </a:rPr>
              <a:t>(esperado, obtido);</a:t>
            </a:r>
            <a:br>
              <a:rPr lang="pt-PT" sz="1100" b="0" dirty="0">
                <a:latin typeface="Consolas" panose="020B0609020204030204" pitchFamily="49" charset="0"/>
              </a:rPr>
            </a:br>
            <a:r>
              <a:rPr lang="pt-PT" sz="1100" b="0" dirty="0">
                <a:latin typeface="Consolas" panose="020B0609020204030204" pitchFamily="49" charset="0"/>
              </a:rPr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2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b="0" dirty="0"/>
              <a:t>Correr os testes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200" b="0" dirty="0"/>
              <a:t>Fazer </a:t>
            </a:r>
            <a:r>
              <a:rPr lang="pt-PT" sz="1200" b="0" dirty="0" err="1"/>
              <a:t>Commit</a:t>
            </a:r>
            <a:r>
              <a:rPr lang="pt-PT" sz="1200" b="0" dirty="0"/>
              <a:t> &amp; </a:t>
            </a:r>
            <a:r>
              <a:rPr lang="pt-PT" sz="1200" b="0" dirty="0" err="1"/>
              <a:t>Push</a:t>
            </a:r>
            <a:r>
              <a:rPr lang="pt-PT" sz="1200" b="0" dirty="0"/>
              <a:t> (mensagem: </a:t>
            </a:r>
            <a:r>
              <a:rPr lang="pt-PT" sz="1200" b="0" dirty="0" err="1"/>
              <a:t>unit</a:t>
            </a:r>
            <a:r>
              <a:rPr lang="pt-PT" sz="1200" b="0" dirty="0"/>
              <a:t> </a:t>
            </a:r>
            <a:r>
              <a:rPr lang="pt-PT" sz="1200" b="0" dirty="0" err="1"/>
              <a:t>tests</a:t>
            </a:r>
            <a:r>
              <a:rPr lang="pt-PT" sz="1200" b="0" dirty="0"/>
              <a:t> </a:t>
            </a:r>
            <a:r>
              <a:rPr lang="pt-PT" sz="1200" b="0" dirty="0" err="1"/>
              <a:t>preparation</a:t>
            </a:r>
            <a:r>
              <a:rPr lang="pt-PT" sz="1200" b="0" dirty="0"/>
              <a:t> + </a:t>
            </a:r>
            <a:r>
              <a:rPr lang="pt-PT" sz="1200" b="0" dirty="0" err="1"/>
              <a:t>testing</a:t>
            </a:r>
            <a:r>
              <a:rPr lang="pt-PT" sz="1200" b="0" dirty="0"/>
              <a:t> </a:t>
            </a:r>
            <a:r>
              <a:rPr lang="pt-PT" sz="1200" b="0" dirty="0" err="1"/>
              <a:t>add</a:t>
            </a:r>
            <a:r>
              <a:rPr lang="pt-PT" sz="1200" b="0" dirty="0"/>
              <a:t> </a:t>
            </a:r>
            <a:r>
              <a:rPr lang="pt-PT" sz="1200" b="0" dirty="0" err="1"/>
              <a:t>and</a:t>
            </a:r>
            <a:r>
              <a:rPr lang="pt-PT" sz="1200" b="0" dirty="0"/>
              <a:t> </a:t>
            </a:r>
            <a:r>
              <a:rPr lang="pt-PT" sz="1200" b="0" dirty="0" err="1"/>
              <a:t>subtract</a:t>
            </a:r>
            <a:r>
              <a:rPr lang="pt-PT" sz="1200" b="0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0557A-EB43-34BA-B0AD-9BC1B892C6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1131590"/>
            <a:ext cx="4248471" cy="432048"/>
          </a:xfrm>
        </p:spPr>
        <p:txBody>
          <a:bodyPr/>
          <a:lstStyle/>
          <a:p>
            <a:r>
              <a:rPr lang="pt-PT" dirty="0"/>
              <a:t>Aluno A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FECA415-AD68-88FE-B190-BB6561C034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14</a:t>
            </a:fld>
            <a:endParaRPr lang="pt-PT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2091EA-7DD7-67CF-BC75-923C65389F06}"/>
              </a:ext>
            </a:extLst>
          </p:cNvPr>
          <p:cNvSpPr txBox="1">
            <a:spLocks/>
          </p:cNvSpPr>
          <p:nvPr/>
        </p:nvSpPr>
        <p:spPr>
          <a:xfrm>
            <a:off x="4571999" y="1131590"/>
            <a:ext cx="4248471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Aluno B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AE08566C-7566-FF9D-1515-15B2DF6DCA14}"/>
              </a:ext>
            </a:extLst>
          </p:cNvPr>
          <p:cNvSpPr txBox="1">
            <a:spLocks/>
          </p:cNvSpPr>
          <p:nvPr/>
        </p:nvSpPr>
        <p:spPr>
          <a:xfrm>
            <a:off x="4533904" y="1635645"/>
            <a:ext cx="4248472" cy="287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3F47D6D-AC7C-0EAF-EB71-7E5FEFC5C1DB}"/>
              </a:ext>
            </a:extLst>
          </p:cNvPr>
          <p:cNvSpPr txBox="1">
            <a:spLocks/>
          </p:cNvSpPr>
          <p:nvPr/>
        </p:nvSpPr>
        <p:spPr>
          <a:xfrm>
            <a:off x="4686304" y="1788045"/>
            <a:ext cx="4248472" cy="287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(espera)</a:t>
            </a:r>
          </a:p>
        </p:txBody>
      </p:sp>
    </p:spTree>
    <p:extLst>
      <p:ext uri="{BB962C8B-B14F-4D97-AF65-F5344CB8AC3E}">
        <p14:creationId xmlns:p14="http://schemas.microsoft.com/office/powerpoint/2010/main" val="4097924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E8A6D-4FE6-332D-E4BF-AD8747187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D20410EF-11D1-67B2-16F0-49A29A1B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Exercício – Calculadora (em grupos de 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C9E551-3A83-F001-13D7-427E2D2CA60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5432" y="1635646"/>
            <a:ext cx="4248472" cy="28795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Voltar para o </a:t>
            </a:r>
            <a:r>
              <a:rPr lang="pt-PT" b="0" dirty="0" err="1"/>
              <a:t>branch</a:t>
            </a:r>
            <a:r>
              <a:rPr lang="pt-PT" b="0" dirty="0"/>
              <a:t> principal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Pull das alterações mais recentes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</a:t>
            </a:r>
            <a:r>
              <a:rPr lang="pt-PT" b="0" dirty="0" err="1"/>
              <a:t>merge</a:t>
            </a:r>
            <a:r>
              <a:rPr lang="pt-PT" b="0" dirty="0"/>
              <a:t> do </a:t>
            </a:r>
            <a:r>
              <a:rPr lang="pt-PT" dirty="0"/>
              <a:t>seu</a:t>
            </a:r>
            <a:r>
              <a:rPr lang="pt-PT" b="0" dirty="0"/>
              <a:t> </a:t>
            </a:r>
            <a:r>
              <a:rPr lang="pt-PT" b="0" dirty="0" err="1"/>
              <a:t>branch</a:t>
            </a:r>
            <a:r>
              <a:rPr lang="pt-PT" b="0" dirty="0"/>
              <a:t> para o </a:t>
            </a:r>
            <a:r>
              <a:rPr lang="pt-PT" b="0" dirty="0" err="1"/>
              <a:t>branch</a:t>
            </a:r>
            <a:r>
              <a:rPr lang="pt-PT" b="0" dirty="0"/>
              <a:t> principal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Resolver os conflitos que aparecerem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</a:t>
            </a:r>
            <a:r>
              <a:rPr lang="pt-PT" b="0" dirty="0" err="1"/>
              <a:t>Commit</a:t>
            </a:r>
            <a:r>
              <a:rPr lang="pt-PT" b="0" dirty="0"/>
              <a:t> do </a:t>
            </a:r>
            <a:r>
              <a:rPr lang="pt-PT" b="0" dirty="0" err="1"/>
              <a:t>merge</a:t>
            </a:r>
            <a:r>
              <a:rPr lang="pt-PT" b="0" dirty="0"/>
              <a:t> (</a:t>
            </a:r>
            <a:r>
              <a:rPr lang="pt-PT" b="0" dirty="0" err="1"/>
              <a:t>branch</a:t>
            </a:r>
            <a:r>
              <a:rPr lang="pt-PT" b="0" dirty="0"/>
              <a:t> principal)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</a:t>
            </a:r>
            <a:r>
              <a:rPr lang="pt-PT" b="0" dirty="0" err="1"/>
              <a:t>Push</a:t>
            </a:r>
            <a:r>
              <a:rPr lang="pt-PT" b="0" dirty="0"/>
              <a:t> do </a:t>
            </a:r>
            <a:r>
              <a:rPr lang="pt-PT" b="0" dirty="0" err="1"/>
              <a:t>merge</a:t>
            </a:r>
            <a:r>
              <a:rPr lang="pt-PT" b="0" dirty="0"/>
              <a:t> para o repositório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C517D-E0BF-FD45-ADA9-A580E0D50F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1131590"/>
            <a:ext cx="4248471" cy="432048"/>
          </a:xfrm>
        </p:spPr>
        <p:txBody>
          <a:bodyPr/>
          <a:lstStyle/>
          <a:p>
            <a:r>
              <a:rPr lang="pt-PT" dirty="0"/>
              <a:t>Aluno A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408A52B-C7DF-8BCE-C5E0-86B06ED64E1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15</a:t>
            </a:fld>
            <a:endParaRPr lang="pt-PT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D43FB0A-5A5E-BECD-BE49-593D4F31DEDB}"/>
              </a:ext>
            </a:extLst>
          </p:cNvPr>
          <p:cNvSpPr txBox="1">
            <a:spLocks/>
          </p:cNvSpPr>
          <p:nvPr/>
        </p:nvSpPr>
        <p:spPr>
          <a:xfrm>
            <a:off x="4571999" y="1131590"/>
            <a:ext cx="4248471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Aluno B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76C340C0-2C28-D7F7-5104-DE2ADA38BD1F}"/>
              </a:ext>
            </a:extLst>
          </p:cNvPr>
          <p:cNvSpPr txBox="1">
            <a:spLocks/>
          </p:cNvSpPr>
          <p:nvPr/>
        </p:nvSpPr>
        <p:spPr>
          <a:xfrm>
            <a:off x="4533904" y="1635645"/>
            <a:ext cx="4248472" cy="287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8093581-AD5A-3EB8-4796-24183AE6220D}"/>
              </a:ext>
            </a:extLst>
          </p:cNvPr>
          <p:cNvSpPr txBox="1">
            <a:spLocks/>
          </p:cNvSpPr>
          <p:nvPr/>
        </p:nvSpPr>
        <p:spPr>
          <a:xfrm>
            <a:off x="4686304" y="1788045"/>
            <a:ext cx="4248472" cy="287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Voltar para o </a:t>
            </a:r>
            <a:r>
              <a:rPr lang="pt-PT" b="0" dirty="0" err="1"/>
              <a:t>branch</a:t>
            </a:r>
            <a:r>
              <a:rPr lang="pt-PT" b="0" dirty="0"/>
              <a:t> principal</a:t>
            </a:r>
          </a:p>
        </p:txBody>
      </p:sp>
    </p:spTree>
    <p:extLst>
      <p:ext uri="{BB962C8B-B14F-4D97-AF65-F5344CB8AC3E}">
        <p14:creationId xmlns:p14="http://schemas.microsoft.com/office/powerpoint/2010/main" val="3401923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C992A-E55F-ABAA-A6F3-CCC16A93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02764564-6F51-5934-F0C8-015C5BE44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Exercício – Calculadora (em grupos de 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A5C15-2DF8-B286-9B10-A20AED4D5AD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5431" y="1635646"/>
            <a:ext cx="4502591" cy="28795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Pull das alterações mais recentes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Criar novo </a:t>
            </a:r>
            <a:r>
              <a:rPr lang="pt-PT" b="0" i="1" dirty="0" err="1"/>
              <a:t>branch</a:t>
            </a:r>
            <a:r>
              <a:rPr lang="pt-PT" b="0" dirty="0"/>
              <a:t> chamado </a:t>
            </a:r>
            <a:r>
              <a:rPr lang="pt-PT" b="0" dirty="0" err="1"/>
              <a:t>testMultiplication</a:t>
            </a: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Adicionar teste para o método </a:t>
            </a:r>
            <a:r>
              <a:rPr lang="pt-PT" b="0" dirty="0" err="1"/>
              <a:t>multiply</a:t>
            </a: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Correr os testes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</a:t>
            </a:r>
            <a:r>
              <a:rPr lang="pt-PT" b="0" dirty="0" err="1"/>
              <a:t>Commit</a:t>
            </a:r>
            <a:r>
              <a:rPr lang="pt-PT" b="0" dirty="0"/>
              <a:t> (mensagem: </a:t>
            </a:r>
            <a:r>
              <a:rPr lang="pt-PT" b="0" dirty="0" err="1"/>
              <a:t>test</a:t>
            </a:r>
            <a:r>
              <a:rPr lang="pt-PT" b="0" dirty="0"/>
              <a:t> </a:t>
            </a:r>
            <a:r>
              <a:rPr lang="pt-PT" b="0" dirty="0" err="1"/>
              <a:t>multiply</a:t>
            </a:r>
            <a:r>
              <a:rPr lang="pt-PT" b="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</a:t>
            </a:r>
            <a:r>
              <a:rPr lang="pt-PT" b="0" dirty="0" err="1"/>
              <a:t>Push</a:t>
            </a: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E70E6-9592-0BCC-81CC-F84DB83B7F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1521" y="1131590"/>
            <a:ext cx="4248471" cy="432048"/>
          </a:xfrm>
        </p:spPr>
        <p:txBody>
          <a:bodyPr/>
          <a:lstStyle/>
          <a:p>
            <a:r>
              <a:rPr lang="pt-PT" dirty="0"/>
              <a:t>Aluno A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3C2651E-9054-ECDD-6866-9EC8F195A21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16</a:t>
            </a:fld>
            <a:endParaRPr lang="pt-PT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DC9E10F-31FF-0BBD-6A87-0A0D3AFE1879}"/>
              </a:ext>
            </a:extLst>
          </p:cNvPr>
          <p:cNvSpPr txBox="1">
            <a:spLocks/>
          </p:cNvSpPr>
          <p:nvPr/>
        </p:nvSpPr>
        <p:spPr>
          <a:xfrm>
            <a:off x="4571999" y="1131590"/>
            <a:ext cx="4248471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Aluno B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A41FC62F-3765-6D2D-E9BB-22A7205C00E4}"/>
              </a:ext>
            </a:extLst>
          </p:cNvPr>
          <p:cNvSpPr txBox="1">
            <a:spLocks/>
          </p:cNvSpPr>
          <p:nvPr/>
        </p:nvSpPr>
        <p:spPr>
          <a:xfrm>
            <a:off x="4533904" y="1635645"/>
            <a:ext cx="4248472" cy="287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Pull das alterações mais recentes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Criar novo </a:t>
            </a:r>
            <a:r>
              <a:rPr lang="pt-PT" b="0" i="1" dirty="0" err="1"/>
              <a:t>branch</a:t>
            </a:r>
            <a:r>
              <a:rPr lang="pt-PT" b="0" dirty="0"/>
              <a:t> chamado </a:t>
            </a:r>
            <a:r>
              <a:rPr lang="pt-PT" b="0" dirty="0" err="1"/>
              <a:t>testDivision</a:t>
            </a:r>
            <a:endParaRPr lang="pt-PT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Adicionar teste para o método divide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Correr os testes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</a:t>
            </a:r>
            <a:r>
              <a:rPr lang="pt-PT" b="0" dirty="0" err="1"/>
              <a:t>Commit</a:t>
            </a:r>
            <a:r>
              <a:rPr lang="pt-PT" b="0" dirty="0"/>
              <a:t> (mensagem: </a:t>
            </a:r>
            <a:r>
              <a:rPr lang="pt-PT" b="0" dirty="0" err="1"/>
              <a:t>test</a:t>
            </a:r>
            <a:r>
              <a:rPr lang="pt-PT" b="0" dirty="0"/>
              <a:t> divide)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0" dirty="0"/>
              <a:t>Fazer </a:t>
            </a:r>
            <a:r>
              <a:rPr lang="pt-PT" b="0" dirty="0" err="1"/>
              <a:t>Push</a:t>
            </a:r>
            <a:endParaRPr lang="pt-PT" b="0" dirty="0"/>
          </a:p>
        </p:txBody>
      </p:sp>
    </p:spTree>
    <p:extLst>
      <p:ext uri="{BB962C8B-B14F-4D97-AF65-F5344CB8AC3E}">
        <p14:creationId xmlns:p14="http://schemas.microsoft.com/office/powerpoint/2010/main" val="128277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1EC24-02AF-D57D-9030-C049C178E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01D8AA2D-ACBB-183E-CEC6-C8B156D3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Exercício – Calculadora (em grupos de 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28584E-6938-297B-ED2A-DA36DD6C3B3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7824" y="1146991"/>
            <a:ext cx="4718617" cy="28795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Voltar para o </a:t>
            </a:r>
            <a:r>
              <a:rPr lang="pt-PT" sz="1100" b="0" dirty="0" err="1"/>
              <a:t>branch</a:t>
            </a:r>
            <a:r>
              <a:rPr lang="pt-PT" sz="1100" b="0" dirty="0"/>
              <a:t> principal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Pull das alterações mais recentes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</a:t>
            </a:r>
            <a:r>
              <a:rPr lang="pt-PT" sz="1100" b="0" dirty="0" err="1"/>
              <a:t>merge</a:t>
            </a:r>
            <a:r>
              <a:rPr lang="pt-PT" sz="1100" b="0" dirty="0"/>
              <a:t> do </a:t>
            </a:r>
            <a:r>
              <a:rPr lang="pt-PT" sz="1100" dirty="0"/>
              <a:t>seu</a:t>
            </a:r>
            <a:r>
              <a:rPr lang="pt-PT" sz="1100" b="0" dirty="0"/>
              <a:t> </a:t>
            </a:r>
            <a:r>
              <a:rPr lang="pt-PT" sz="1100" b="0" dirty="0" err="1"/>
              <a:t>branch</a:t>
            </a:r>
            <a:r>
              <a:rPr lang="pt-PT" sz="1100" b="0" dirty="0"/>
              <a:t> para o </a:t>
            </a:r>
            <a:r>
              <a:rPr lang="pt-PT" sz="1100" b="0" dirty="0" err="1"/>
              <a:t>branch</a:t>
            </a:r>
            <a:r>
              <a:rPr lang="pt-PT" sz="1100" b="0" dirty="0"/>
              <a:t> principal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Resolver os conflitos que aparecerem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</a:t>
            </a:r>
            <a:r>
              <a:rPr lang="pt-PT" sz="1100" b="0" dirty="0" err="1"/>
              <a:t>Push</a:t>
            </a:r>
            <a:r>
              <a:rPr lang="pt-PT" sz="1100" b="0" dirty="0"/>
              <a:t> do </a:t>
            </a:r>
            <a:r>
              <a:rPr lang="pt-PT" sz="1100" b="0" dirty="0" err="1"/>
              <a:t>merge</a:t>
            </a:r>
            <a:r>
              <a:rPr lang="pt-PT" sz="1100" b="0" dirty="0"/>
              <a:t> para o repositório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Pull das alterações mais recentes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3121E-C3E9-1888-699C-6625EFAAD8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2144" y="778235"/>
            <a:ext cx="4248471" cy="432048"/>
          </a:xfrm>
        </p:spPr>
        <p:txBody>
          <a:bodyPr/>
          <a:lstStyle/>
          <a:p>
            <a:r>
              <a:rPr lang="pt-PT" dirty="0"/>
              <a:t>Aluno (primeiro a acabar)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B5A2C33-82D5-F807-34EA-4B58E4A8561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17</a:t>
            </a:fld>
            <a:endParaRPr lang="pt-PT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BF30BDD-27E1-BBC8-0E05-8862EE8F08E9}"/>
              </a:ext>
            </a:extLst>
          </p:cNvPr>
          <p:cNvSpPr txBox="1">
            <a:spLocks/>
          </p:cNvSpPr>
          <p:nvPr/>
        </p:nvSpPr>
        <p:spPr>
          <a:xfrm>
            <a:off x="4572622" y="778235"/>
            <a:ext cx="4248471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/>
              <a:t>Aluno (outro)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9EB68BD-0311-9FE8-6ACC-47AF060A41D8}"/>
              </a:ext>
            </a:extLst>
          </p:cNvPr>
          <p:cNvSpPr txBox="1">
            <a:spLocks/>
          </p:cNvSpPr>
          <p:nvPr/>
        </p:nvSpPr>
        <p:spPr>
          <a:xfrm>
            <a:off x="4174354" y="1132381"/>
            <a:ext cx="4932040" cy="2879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 typeface="Arial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marR="0" indent="-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Voltar para o </a:t>
            </a:r>
            <a:r>
              <a:rPr lang="pt-PT" sz="1100" b="0" dirty="0" err="1"/>
              <a:t>branch</a:t>
            </a:r>
            <a:r>
              <a:rPr lang="pt-PT" sz="1100" b="0" dirty="0"/>
              <a:t> principal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Pull das alterações mais recentes (já com alterações do colega)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</a:t>
            </a:r>
            <a:r>
              <a:rPr lang="pt-PT" sz="1100" b="0" dirty="0" err="1"/>
              <a:t>merge</a:t>
            </a:r>
            <a:r>
              <a:rPr lang="pt-PT" sz="1100" b="0" dirty="0"/>
              <a:t> do </a:t>
            </a:r>
            <a:r>
              <a:rPr lang="pt-PT" sz="1100" dirty="0"/>
              <a:t>seu</a:t>
            </a:r>
            <a:r>
              <a:rPr lang="pt-PT" sz="1100" b="0" dirty="0"/>
              <a:t> </a:t>
            </a:r>
            <a:r>
              <a:rPr lang="pt-PT" sz="1100" b="0" dirty="0" err="1"/>
              <a:t>branch</a:t>
            </a:r>
            <a:r>
              <a:rPr lang="pt-PT" sz="1100" b="0" dirty="0"/>
              <a:t> para o </a:t>
            </a:r>
            <a:r>
              <a:rPr lang="pt-PT" sz="1100" b="0" dirty="0" err="1"/>
              <a:t>branch</a:t>
            </a:r>
            <a:r>
              <a:rPr lang="pt-PT" sz="1100" b="0" dirty="0"/>
              <a:t> principal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Resolver os conflitos que aparecerem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100" b="0" dirty="0"/>
              <a:t>Fazer </a:t>
            </a:r>
            <a:r>
              <a:rPr lang="pt-PT" sz="1100" b="0" dirty="0" err="1"/>
              <a:t>Push</a:t>
            </a:r>
            <a:r>
              <a:rPr lang="pt-PT" sz="1100" b="0" dirty="0"/>
              <a:t> do </a:t>
            </a:r>
            <a:r>
              <a:rPr lang="pt-PT" sz="1100" b="0" dirty="0" err="1"/>
              <a:t>merge</a:t>
            </a:r>
            <a:r>
              <a:rPr lang="pt-PT" sz="1100" b="0" dirty="0"/>
              <a:t> para o repositório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100" b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7D05E2-CA22-DCFD-04B5-D5C5AC850E48}"/>
              </a:ext>
            </a:extLst>
          </p:cNvPr>
          <p:cNvSpPr txBox="1"/>
          <p:nvPr/>
        </p:nvSpPr>
        <p:spPr>
          <a:xfrm>
            <a:off x="539552" y="4241387"/>
            <a:ext cx="86070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b="1" dirty="0"/>
              <a:t>Resultado final esperado</a:t>
            </a:r>
            <a:r>
              <a:rPr lang="pt-PT" sz="1400" b="0" dirty="0"/>
              <a:t>: Ambos os alunos têm todos os testes unitários, para além das operações funcionais</a:t>
            </a:r>
          </a:p>
        </p:txBody>
      </p:sp>
    </p:spTree>
    <p:extLst>
      <p:ext uri="{BB962C8B-B14F-4D97-AF65-F5344CB8AC3E}">
        <p14:creationId xmlns:p14="http://schemas.microsoft.com/office/powerpoint/2010/main" val="3066104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0E451E-9331-14EB-0942-4D475CE3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Árvore do </a:t>
            </a:r>
            <a:r>
              <a:rPr lang="pt-PT"/>
              <a:t>git</a:t>
            </a:r>
            <a:endParaRPr lang="pt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6A9E-44E5-EA9A-A9CE-99C4481506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C1D6F7E-56EE-4C9D-8093-800C61695320}" type="slidenum">
              <a:rPr lang="pt-PT" smtClean="0"/>
              <a:pPr/>
              <a:t>18</a:t>
            </a:fld>
            <a:endParaRPr lang="pt-P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C6DD9E-9840-3354-1B8B-ABB1D776B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2" y="1747837"/>
            <a:ext cx="753427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367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ermelho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cb793a-ca02-4ac3-a46e-73c4c2fe76b7" xsi:nil="true"/>
    <lcf76f155ced4ddcb4097134ff3c332f xmlns="6e977478-40fc-4c96-9b59-58f9adc6221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0F40A57A4B4943AE5F0D22A00E6876" ma:contentTypeVersion="12" ma:contentTypeDescription="Criar um novo documento." ma:contentTypeScope="" ma:versionID="8ba698dde46e35a06eb1475bb2b057f6">
  <xsd:schema xmlns:xsd="http://www.w3.org/2001/XMLSchema" xmlns:xs="http://www.w3.org/2001/XMLSchema" xmlns:p="http://schemas.microsoft.com/office/2006/metadata/properties" xmlns:ns2="6e977478-40fc-4c96-9b59-58f9adc62218" xmlns:ns3="53cb793a-ca02-4ac3-a46e-73c4c2fe76b7" targetNamespace="http://schemas.microsoft.com/office/2006/metadata/properties" ma:root="true" ma:fieldsID="1eba2e609a7e0a8b3df56a0430d5692b" ns2:_="" ns3:_="">
    <xsd:import namespace="6e977478-40fc-4c96-9b59-58f9adc62218"/>
    <xsd:import namespace="53cb793a-ca02-4ac3-a46e-73c4c2fe76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77478-40fc-4c96-9b59-58f9adc622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m" ma:readOnly="false" ma:fieldId="{5cf76f15-5ced-4ddc-b409-7134ff3c332f}" ma:taxonomyMulti="true" ma:sspId="abd39c20-4416-4a86-a41d-df69d8f2de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cb793a-ca02-4ac3-a46e-73c4c2fe76b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e0864-b2fa-416b-81eb-660d81cce739}" ma:internalName="TaxCatchAll" ma:showField="CatchAllData" ma:web="53cb793a-ca02-4ac3-a46e-73c4c2fe76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A451BA-CF64-4E5A-B704-4530BEACE0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FCBCEF-5769-4BC7-BAA3-A2426996F6D7}">
  <ds:schemaRefs>
    <ds:schemaRef ds:uri="http://schemas.microsoft.com/office/2006/metadata/properties"/>
    <ds:schemaRef ds:uri="http://schemas.microsoft.com/office/infopath/2007/PartnerControls"/>
    <ds:schemaRef ds:uri="53cb793a-ca02-4ac3-a46e-73c4c2fe76b7"/>
    <ds:schemaRef ds:uri="6e977478-40fc-4c96-9b59-58f9adc62218"/>
  </ds:schemaRefs>
</ds:datastoreItem>
</file>

<file path=customXml/itemProps3.xml><?xml version="1.0" encoding="utf-8"?>
<ds:datastoreItem xmlns:ds="http://schemas.openxmlformats.org/officeDocument/2006/customXml" ds:itemID="{6542E4E9-865F-4EDF-9A7C-53ADDA3BD48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12889</TotalTime>
  <Words>882</Words>
  <Application>Microsoft Office PowerPoint</Application>
  <PresentationFormat>On-screen Show (16:9)</PresentationFormat>
  <Paragraphs>228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Wingdings</vt:lpstr>
      <vt:lpstr>Office Theme</vt:lpstr>
      <vt:lpstr>Modelação e Programação  1º Ano, 2º Semestre </vt:lpstr>
      <vt:lpstr>Motivação</vt:lpstr>
      <vt:lpstr>Introdução</vt:lpstr>
      <vt:lpstr>Setup com IntelliJ + Maven + JUnit</vt:lpstr>
      <vt:lpstr>Estrutura de um teste</vt:lpstr>
      <vt:lpstr>Exemplo: teste da função add</vt:lpstr>
      <vt:lpstr>Exemplo: teste da função add</vt:lpstr>
      <vt:lpstr>Exemplo: execução de todos os testes de uma classe</vt:lpstr>
      <vt:lpstr>Exemplo: quando um teste falha</vt:lpstr>
      <vt:lpstr>Como verificar resultados com um teste unitário</vt:lpstr>
      <vt:lpstr>Exercício – Calculadora (continuação, mesmos grupos)</vt:lpstr>
      <vt:lpstr>Exercício – Calculadora (em grupos de 2)</vt:lpstr>
      <vt:lpstr>Exercício – Calculadora (em grupos de 2)</vt:lpstr>
      <vt:lpstr>Exercício – Calculadora (em grupos de 2)</vt:lpstr>
      <vt:lpstr>Exercício – Calculadora (em grupos de 2)</vt:lpstr>
      <vt:lpstr>Exercício – Calculadora (em grupos de 2)</vt:lpstr>
      <vt:lpstr>Exercício – Calculadora (em grupos de 2)</vt:lpstr>
      <vt:lpstr>Árvore do git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Barbara Mota</dc:creator>
  <cp:lastModifiedBy>Catarina Félix De Oliveira</cp:lastModifiedBy>
  <cp:revision>217</cp:revision>
  <dcterms:created xsi:type="dcterms:W3CDTF">2021-05-21T09:47:05Z</dcterms:created>
  <dcterms:modified xsi:type="dcterms:W3CDTF">2026-04-22T11:55:40Z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0x0101008F0F40A57A4B4943AE5F0D22A00E6876</vt:lpwstr>
  </property>
</Properties>
</file>